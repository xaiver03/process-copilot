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大家好，我们带来的是“序安·磷煤化工异常早期预警平台”。它不替代 DCS，也不替代操作员。它只做一件很具体的事：持续读取已经存在的过程数据，在化验结果出来之前、在异常演变成事故之前，指出风险正在形成，并把判断依据和处置建议交给人确认。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磷煤化工现场并不缺传感器，DCS 也一直在采集压力、流量、温度、液位和密度。真正的问题是，很多关键判断依赖离线化验、跨装置核对和老师傅经验。等结论出来时，趋势可能已经形成。序安补的是这段“提前判断”的时间差，而且不增加新的控制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举一个普通观众也能理解的例子。过滤设备可能没有任何一个点立刻越过报警线，但过滤压差在抬升，进料流量开始波动，产品密度也偏离了过去的关系。单看每个点，好像都还能运行；把它们放在一起，异常的轮廓已经出现。这里展示的是典型场景，不是贵州企业的真实数据，也不是我们已经取得的现场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序安把过程拆成五步。第一，发现未来风险窗口。第二，对故障候选排序。第三，展示哪些变量、哪些时间段支持这个判断。第四，给出处置建议的先后顺序。第五，由操作员确认、驳回或升级。机器负责持续看，人负责最终决定，而且每一步都会留下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要讲清楚两类模型的分工。过程诊断模型读取实时变量和软测量结果，先发现异常窗口，再给故障候选排序，并计算变量贡献。语言模型拿到这些结构化证据以后，负责把技术判断翻译成人能理解的话，并回答追问。它不能绕过诊断模型，更不能因为一句对话就直接控制设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会走一条完整路径：进入系统，选择公开验证场景，让过程变量开始回放；系统捕获异常窗口，给出候选故障和变量证据；操作员继续追问，并选择确认、驳回或升级。污水场景用来说明如何预测滞后的化验指标，TEP 场景用来说明连续化工过程偏移。它们都是公开技术验证数据，不是贵州企业数据。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贵州省大数据发展管理局公开的“1468”案例说明，磷化工领域的能耗、品质、设备预测，以及 APC 加 RTO 的闭环优化，确实有产业价值。序安不重复讲一个泛化的“磷化工大模型”，而是补齐闭环之前的安全异常研判层：提前发现、故障候选、变量证据、人机接管和审计。我们与该案例没有合作关系，没有使用贵州企业真实数据，页面中的公开成效也不是序安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当前 Demo 的边界非常明确：只读数据、输出影子建议、由人确认，不自动写回 PLC 或 DCS。未来如果进入生产控制，也不是模型直接下指令，而是必须依次通过人工审批、身份与权限、工艺上下限、联锁校验、控制网关和执行回读。任何一道不通过，就停在建议层。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落地不需要一开始覆盖整个园区。我们建议先选一个装置、一个风险目标，确认变量和化验标签；然后做离线历史回放，检查异常窗口和证据；再进行只读影子运行，与班组判断并行对照；最后共同验收提前量、误报和可解释性。四到八周只是建议节奏，实际周期取决于现场数据条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今天提出的下一步，不是接管控制，而是请园区授权我们先看清一个真实问题：选一个装置、一个风险目标、建立一条只读数据链。双方先确认谁能授权数据、最痛的异常是什么，以及怎样定义“有用的提前量”。公开验证数据不等于贵州企业真实数据，公开案例参照也不等于合作关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ocalight/Desktop/All in one Data/01_PROJECTS/FDE任务/03_产品与解决方案/03_连续化工过程偏移副驾驶/90_构建与分析缓存/序安磷煤化工异常早期预警平台_黑客松路演_v14/assets/园区封面主视觉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61B2A">
              <a:alpha val="88000"/>
            </a:srgbClr>
          </a:solidFill>
          <a:ln w="12700">
            <a:solidFill>
              <a:srgbClr val="061B2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01C">
              <a:alpha val="52000"/>
            </a:srgbClr>
          </a:solidFill>
          <a:ln w="12700">
            <a:solidFill>
              <a:srgbClr val="00101C">
                <a:alpha val="0"/>
              </a:srgbClr>
            </a:solidFill>
            <a:prstDash val="solid"/>
          </a:ln>
        </p:spPr>
      </p:sp>
      <p:pic>
        <p:nvPicPr>
          <p:cNvPr id="5" name="Image 1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512064"/>
            <a:ext cx="749808" cy="7498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536192" y="694944"/>
            <a:ext cx="1024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2100" dirty="0"/>
          </a:p>
        </p:txBody>
      </p:sp>
      <p:sp>
        <p:nvSpPr>
          <p:cNvPr id="7" name="Shape 3"/>
          <p:cNvSpPr/>
          <p:nvPr/>
        </p:nvSpPr>
        <p:spPr>
          <a:xfrm>
            <a:off x="731520" y="1417320"/>
            <a:ext cx="2194560" cy="347472"/>
          </a:xfrm>
          <a:prstGeom prst="roundRect">
            <a:avLst>
              <a:gd name="adj" fmla="val 31579"/>
            </a:avLst>
          </a:prstGeom>
          <a:solidFill>
            <a:srgbClr val="12374A"/>
          </a:solidFill>
          <a:ln w="15240">
            <a:solidFill>
              <a:srgbClr val="1237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22960" y="1435608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黑客松路演 · REVIEW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31520" y="1874520"/>
            <a:ext cx="6720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磷煤化工异常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早期预警平台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749808" y="3675888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让异常在事故之前、在化验结果之前被看见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749808" y="436168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读懂 DCS 时序信号 · 给出原因证据 · 由人确认闭环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49808" y="591616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 Demo：只读 / 影子建议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 / 园区问题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真正的时间差，不在传感器，在判断</a:t>
            </a:r>
            <a:endParaRPr lang="en-US" sz="3000" dirty="0"/>
          </a:p>
        </p:txBody>
      </p:sp>
      <p:pic>
        <p:nvPicPr>
          <p:cNvPr id="7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" y="1874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DCS 一直有数据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731520" y="248716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压力、流量、温度、液位、密度……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现场变量持续在线。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3794760" y="2816352"/>
            <a:ext cx="914400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4919472" y="18745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DE5B6D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但关键结论会迟到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4937760" y="2487168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离线化验、跨装置核对、班组经验判断，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往往发生在趋势已经形成之后。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8229600" y="2816352"/>
            <a:ext cx="822960" cy="0"/>
          </a:xfrm>
          <a:prstGeom prst="line">
            <a:avLst/>
          </a:prstGeom>
          <a:noFill/>
          <a:ln w="30480">
            <a:solidFill>
              <a:srgbClr val="F2A93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9253728" y="1783080"/>
            <a:ext cx="2194560" cy="1920240"/>
          </a:xfrm>
          <a:prstGeom prst="roundRect">
            <a:avLst>
              <a:gd name="adj" fmla="val 5714"/>
            </a:avLst>
          </a:prstGeom>
          <a:solidFill>
            <a:srgbClr val="FFF5E4"/>
          </a:solidFill>
          <a:ln w="15240">
            <a:solidFill>
              <a:srgbClr val="F2A93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491472" y="207568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序安补上</a:t>
            </a:r>
            <a:endParaRPr lang="en-US" sz="2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“提前判断”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9582912" y="31272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不新增控制权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7240" y="4617720"/>
            <a:ext cx="10652760" cy="0"/>
          </a:xfrm>
          <a:prstGeom prst="line">
            <a:avLst/>
          </a:prstGeom>
          <a:noFill/>
          <a:ln w="25400">
            <a:solidFill>
              <a:srgbClr val="DCEAF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88720" y="4480560"/>
            <a:ext cx="274320" cy="27432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488289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磷酸生产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950208" y="4480560"/>
            <a:ext cx="274320" cy="27432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55848" y="488289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煤化工公辅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711696" y="4480560"/>
            <a:ext cx="274320" cy="27432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17336" y="488289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固废与水系统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9473184" y="4480560"/>
            <a:ext cx="274320" cy="27432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878824" y="488289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下游产品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1005840" y="5650992"/>
            <a:ext cx="10149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园区不是四个孤岛：一个环节的偏移，会沿物料、能源和环境链向后传递。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ocalight/Desktop/All in one Data/01_PROJECTS/FDE任务/03_产品与解决方案/03_连续化工过程偏移副驾驶/90_构建与分析缓存/序安磷煤化工异常早期预警平台_黑客松路演_v14/assets/过滤异常主视觉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46520" y="0"/>
            <a:ext cx="5760720" cy="6858000"/>
          </a:xfrm>
          <a:prstGeom prst="rect">
            <a:avLst/>
          </a:prstGeom>
          <a:solidFill>
            <a:srgbClr val="061B2A">
              <a:alpha val="93000"/>
            </a:srgbClr>
          </a:solidFill>
          <a:ln w="12700">
            <a:solidFill>
              <a:srgbClr val="061B2A">
                <a:alpha val="0"/>
              </a:srgbClr>
            </a:solidFill>
            <a:prstDash val="solid"/>
          </a:ln>
        </p:spPr>
      </p:sp>
      <p:pic>
        <p:nvPicPr>
          <p:cNvPr id="4" name="Image 1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967728" y="896112"/>
            <a:ext cx="4480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一个异常，往往先表现为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几条曲线一起“不太对”</a:t>
            </a:r>
            <a:endParaRPr lang="en-US" sz="3000" dirty="0"/>
          </a:p>
        </p:txBody>
      </p:sp>
      <p:sp>
        <p:nvSpPr>
          <p:cNvPr id="7" name="Shape 3"/>
          <p:cNvSpPr/>
          <p:nvPr/>
        </p:nvSpPr>
        <p:spPr>
          <a:xfrm>
            <a:off x="7114032" y="2432304"/>
            <a:ext cx="219456" cy="219456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516368" y="2322576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过滤压差持续抬升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7114032" y="3236976"/>
            <a:ext cx="219456" cy="219456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516368" y="3127248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进料流量开始波动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7114032" y="4041648"/>
            <a:ext cx="219456" cy="219456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516368" y="393192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产品密度偏离惯常关系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967728" y="4983480"/>
            <a:ext cx="4315968" cy="868680"/>
          </a:xfrm>
          <a:prstGeom prst="roundRect">
            <a:avLst>
              <a:gd name="adj" fmla="val 12632"/>
            </a:avLst>
          </a:prstGeom>
          <a:solidFill>
            <a:srgbClr val="12374A"/>
          </a:solidFill>
          <a:ln w="15240">
            <a:solidFill>
              <a:srgbClr val="13C2C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269480" y="5193792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单点不一定报警，组合关系已经改变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7040880" y="6099048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5CAD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示意场景，不代表贵州企业真实数据或既有效果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 / 产品闭环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先发现，再把“为什么”讲清楚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五步主链路，操作员始终在环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49808" y="2130552"/>
            <a:ext cx="1371600" cy="1371600"/>
          </a:xfrm>
          <a:prstGeom prst="ellipse">
            <a:avLst/>
          </a:prstGeom>
          <a:solidFill>
            <a:srgbClr val="EAF7FA"/>
          </a:solidFill>
          <a:ln w="27940">
            <a:solidFill>
              <a:srgbClr val="13C2C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发现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2194560" y="2816352"/>
            <a:ext cx="62179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676656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未来窗口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017520" y="2130552"/>
            <a:ext cx="1371600" cy="1371600"/>
          </a:xfrm>
          <a:prstGeom prst="ellipse">
            <a:avLst/>
          </a:prstGeom>
          <a:solidFill>
            <a:srgbClr val="EAF7FA"/>
          </a:solidFill>
          <a:ln w="27940">
            <a:solidFill>
              <a:srgbClr val="13C2C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56432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27248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判断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4462272" y="2816352"/>
            <a:ext cx="62179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2944368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候选故障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285232" y="2130552"/>
            <a:ext cx="1371600" cy="1371600"/>
          </a:xfrm>
          <a:prstGeom prst="ellipse">
            <a:avLst/>
          </a:prstGeom>
          <a:solidFill>
            <a:srgbClr val="EAF7FA"/>
          </a:solidFill>
          <a:ln w="27940">
            <a:solidFill>
              <a:srgbClr val="13C2C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724144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94960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解释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729984" y="2816352"/>
            <a:ext cx="62179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5212080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变量证据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7552944" y="2130552"/>
            <a:ext cx="1371600" cy="1371600"/>
          </a:xfrm>
          <a:prstGeom prst="ellipse">
            <a:avLst/>
          </a:prstGeom>
          <a:solidFill>
            <a:srgbClr val="EAF7FA"/>
          </a:solidFill>
          <a:ln w="27940">
            <a:solidFill>
              <a:srgbClr val="13C2C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91856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662672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建议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8997696" y="2816352"/>
            <a:ext cx="62179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9" name="Text 26"/>
          <p:cNvSpPr/>
          <p:nvPr/>
        </p:nvSpPr>
        <p:spPr>
          <a:xfrm>
            <a:off x="7479792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处置顺序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9820656" y="2130552"/>
            <a:ext cx="1371600" cy="1371600"/>
          </a:xfrm>
          <a:prstGeom prst="ellipse">
            <a:avLst/>
          </a:prstGeom>
          <a:solidFill>
            <a:srgbClr val="FFF5E4"/>
          </a:solidFill>
          <a:ln w="27940">
            <a:solidFill>
              <a:srgbClr val="F2A93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259568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930384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人工确认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9747504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接管与留痕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69264" y="4736592"/>
            <a:ext cx="10204704" cy="786384"/>
          </a:xfrm>
          <a:prstGeom prst="roundRect">
            <a:avLst>
              <a:gd name="adj" fmla="val 13953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80160" y="4937760"/>
            <a:ext cx="9582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机器负责持续看，人负责最终决定；每一次判断、追问和确认都留下审计记录。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 / AI 架构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诊断模型做判断，语言模型负责讲明白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语言模型不直接替代过程诊断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8912" y="1938528"/>
            <a:ext cx="1600200" cy="2029968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7784" y="228600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实时变量 / 软测量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66928" y="3044952"/>
            <a:ext cx="134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DCS、传感器、化验历史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057400" y="2962656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359152" y="1938528"/>
            <a:ext cx="1600200" cy="2029968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78024" y="228600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异常窗口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487168" y="3044952"/>
            <a:ext cx="134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预测未来风险区间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977640" y="2962656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279392" y="1938528"/>
            <a:ext cx="1600200" cy="2029968"/>
          </a:xfrm>
          <a:prstGeom prst="roundRect">
            <a:avLst>
              <a:gd name="adj" fmla="val 6857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398264" y="228600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诊断模型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4407408" y="3044952"/>
            <a:ext cx="134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BE9E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候选故障排序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BE9E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变量贡献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897880" y="2962656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199632" y="1938528"/>
            <a:ext cx="1600200" cy="2029968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18504" y="228600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语言模型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327648" y="3044952"/>
            <a:ext cx="134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基于结构化证据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解释 / 问答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7818120" y="2962656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119872" y="1938528"/>
            <a:ext cx="1600200" cy="2029968"/>
          </a:xfrm>
          <a:prstGeom prst="roundRect">
            <a:avLst>
              <a:gd name="adj" fmla="val 6857"/>
            </a:avLst>
          </a:prstGeom>
          <a:solidFill>
            <a:srgbClr val="FFF5E4"/>
          </a:solidFill>
          <a:ln w="15240">
            <a:solidFill>
              <a:srgbClr val="F2A93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38744" y="228600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操作员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8247888" y="3044952"/>
            <a:ext cx="134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确认、驳回、升级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738360" y="2962656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10040112" y="1938528"/>
            <a:ext cx="1600200" cy="2029968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158984" y="228600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审计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10168128" y="3044952"/>
            <a:ext cx="134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留痕；未来受控写回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1051560" y="4773168"/>
            <a:ext cx="10058400" cy="758952"/>
          </a:xfrm>
          <a:prstGeom prst="roundRect">
            <a:avLst>
              <a:gd name="adj" fmla="val 14458"/>
            </a:avLst>
          </a:prstGeom>
          <a:solidFill>
            <a:srgbClr val="EAF7FA"/>
          </a:solidFill>
          <a:ln w="15240">
            <a:solidFill>
              <a:srgbClr val="13C2C2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325880" y="4974336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关键边界：语言模型只能解释已经结构化的证据，不能凭一句话直接控制设备。</a:t>
            </a:r>
            <a:endParaRPr lang="en-US" sz="1900" dirty="0"/>
          </a:p>
        </p:txBody>
      </p:sp>
      <p:sp>
        <p:nvSpPr>
          <p:cNvPr id="35" name="Text 32"/>
          <p:cNvSpPr/>
          <p:nvPr/>
        </p:nvSpPr>
        <p:spPr>
          <a:xfrm>
            <a:off x="2011680" y="587044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真实 llm_enhanced 公网截图待供应商恢复后补入；当前不采用 template-v0.1 旧截图。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 / 现场演示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我们现场演示的，不是一张静态截图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从回放到确认，走完一条真实产品路径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1874520"/>
            <a:ext cx="566928" cy="347472"/>
          </a:xfrm>
          <a:prstGeom prst="roundRect">
            <a:avLst>
              <a:gd name="adj" fmla="val 31579"/>
            </a:avLst>
          </a:prstGeom>
          <a:solidFill>
            <a:srgbClr val="EAF7FA"/>
          </a:solidFill>
          <a:ln w="15240">
            <a:solidFill>
              <a:srgbClr val="EAF7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1892808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444752" y="1865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选择场景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444752" y="2267712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污水 / TEP 公开验证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58368" y="3017520"/>
            <a:ext cx="566928" cy="347472"/>
          </a:xfrm>
          <a:prstGeom prst="roundRect">
            <a:avLst>
              <a:gd name="adj" fmla="val 31579"/>
            </a:avLst>
          </a:prstGeom>
          <a:solidFill>
            <a:srgbClr val="EAF7FA"/>
          </a:solidFill>
          <a:ln w="15240">
            <a:solidFill>
              <a:srgbClr val="EAF7F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3035808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444752" y="3008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过程回放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444752" y="3410712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变量实时向前推进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58368" y="4160520"/>
            <a:ext cx="566928" cy="347472"/>
          </a:xfrm>
          <a:prstGeom prst="roundRect">
            <a:avLst>
              <a:gd name="adj" fmla="val 31579"/>
            </a:avLst>
          </a:prstGeom>
          <a:solidFill>
            <a:srgbClr val="FFF5E4"/>
          </a:solidFill>
          <a:ln w="15240">
            <a:solidFill>
              <a:srgbClr val="FFF5E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9808" y="4178808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444752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捕获并确认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444752" y="4553712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异常 → 证据 → 人工留痕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58368" y="5440680"/>
            <a:ext cx="3108960" cy="658368"/>
          </a:xfrm>
          <a:prstGeom prst="roundRect">
            <a:avLst>
              <a:gd name="adj" fmla="val 16667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59536" y="559612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 Demo：只读 / 影子建议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4096512" y="1810512"/>
            <a:ext cx="7388352" cy="4325112"/>
          </a:xfrm>
          <a:prstGeom prst="roundRect">
            <a:avLst>
              <a:gd name="adj" fmla="val 253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pic>
        <p:nvPicPr>
          <p:cNvPr id="25" name="Image 1" descr="/Users/rocalight/Desktop/All in one Data/01_PROJECTS/FDE任务/03_产品与解决方案/03_连续化工过程偏移副驾驶/90_构建与分析缓存/序安磷煤化工异常早期预警平台_黑客松路演_v14/assets/screenshots/公网在线回放_144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1938528"/>
            <a:ext cx="7132320" cy="4014216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8915400" y="5596128"/>
            <a:ext cx="2212848" cy="347472"/>
          </a:xfrm>
          <a:prstGeom prst="roundRect">
            <a:avLst>
              <a:gd name="adj" fmla="val 31579"/>
            </a:avLst>
          </a:prstGeom>
          <a:solidFill>
            <a:srgbClr val="12374A"/>
          </a:solidFill>
          <a:ln w="15240">
            <a:solidFill>
              <a:srgbClr val="12374A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006840" y="5614416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PLAYWRIGHT 公网实拍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 / 产业参照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闭环价值已经被证明，安全研判层仍需补齐</a:t>
            </a:r>
            <a:endParaRPr lang="en-US" sz="3000" dirty="0"/>
          </a:p>
        </p:txBody>
      </p:sp>
      <p:pic>
        <p:nvPicPr>
          <p:cNvPr id="7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1682496"/>
            <a:ext cx="521208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60120" y="1956816"/>
            <a:ext cx="2103120" cy="347472"/>
          </a:xfrm>
          <a:prstGeom prst="roundRect">
            <a:avLst>
              <a:gd name="adj" fmla="val 31579"/>
            </a:avLst>
          </a:prstGeom>
          <a:solidFill>
            <a:srgbClr val="EAF7FA"/>
          </a:solidFill>
          <a:ln w="15240">
            <a:solidFill>
              <a:srgbClr val="EAF7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1975104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贵州官方公开案例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0120" y="2505456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“1468”装置</a:t>
            </a:r>
            <a:endParaRPr lang="en-US" sz="2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磷化工能耗优化大模型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978408" y="3584448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公开方向：能耗 / 品质 / 设备预测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APC + RTO 参数优化与边缘闭环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87552" y="4590288"/>
            <a:ext cx="43708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公开成效：能耗降低 2% 以上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操作频次下降 70% 以上 · 稳定性提升 30% 以上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36208" y="1682496"/>
            <a:ext cx="5257800" cy="4224528"/>
          </a:xfrm>
          <a:prstGeom prst="roundRect">
            <a:avLst>
              <a:gd name="adj" fmla="val 2597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10528" y="1956816"/>
            <a:ext cx="1600200" cy="347472"/>
          </a:xfrm>
          <a:prstGeom prst="roundRect">
            <a:avLst>
              <a:gd name="adj" fmla="val 31579"/>
            </a:avLst>
          </a:prstGeom>
          <a:solidFill>
            <a:srgbClr val="12374A"/>
          </a:solidFill>
          <a:ln w="15240">
            <a:solidFill>
              <a:srgbClr val="1237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01968" y="1975104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序安的边界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510528" y="252374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补齐“安全异常研判层”</a:t>
            </a:r>
            <a:endParaRPr lang="en-US" sz="2700" dirty="0"/>
          </a:p>
        </p:txBody>
      </p:sp>
      <p:sp>
        <p:nvSpPr>
          <p:cNvPr id="19" name="Shape 16"/>
          <p:cNvSpPr/>
          <p:nvPr/>
        </p:nvSpPr>
        <p:spPr>
          <a:xfrm>
            <a:off x="6547104" y="3227832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876288" y="311810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异常提前发现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547104" y="3758184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76288" y="364845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故障候选排序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547104" y="4288536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76288" y="41788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变量证据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6547104" y="4818888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876288" y="47091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人机接管与审计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510528" y="5413248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B5CAD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无合作关系 · 未使用其真实数据 · 公开成效不是序安成果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13232" y="6181344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来源：贵州省大数据发展管理局公开案例，2026-01-20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 / 安全边界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现在只读；未来写回，要过六道闸门</a:t>
            </a:r>
            <a:endParaRPr lang="en-US" sz="3000" dirty="0"/>
          </a:p>
        </p:txBody>
      </p:sp>
      <p:pic>
        <p:nvPicPr>
          <p:cNvPr id="7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13232" y="1691640"/>
            <a:ext cx="2971800" cy="4224528"/>
          </a:xfrm>
          <a:prstGeom prst="roundRect">
            <a:avLst>
              <a:gd name="adj" fmla="val 3692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20848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 Demo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097280" y="2743200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只读数据</a:t>
            </a:r>
            <a:endParaRPr lang="en-US" sz="2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影子建议</a:t>
            </a:r>
            <a:endParaRPr lang="en-US" sz="2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人工确认</a:t>
            </a:r>
            <a:endParaRPr lang="en-US" sz="2900" dirty="0"/>
          </a:p>
        </p:txBody>
      </p:sp>
      <p:sp>
        <p:nvSpPr>
          <p:cNvPr id="12" name="Text 9"/>
          <p:cNvSpPr/>
          <p:nvPr/>
        </p:nvSpPr>
        <p:spPr>
          <a:xfrm>
            <a:off x="987552" y="4882896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不自动写回 PLC / DCS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913632" y="3730752"/>
            <a:ext cx="731520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4754880" y="17190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生产版路线图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736592" y="2487168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73752" y="25968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73752" y="290779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人工审批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958584" y="2487168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95744" y="25968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095744" y="290779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身份与权限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80576" y="2487168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17736" y="25968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17736" y="290779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工艺上下限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4736592" y="3840480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73752" y="39502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73752" y="4261104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联锁校验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6958584" y="3840480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95744" y="39502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095744" y="4261104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控制网关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9180576" y="3840480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5E4"/>
          </a:solidFill>
          <a:ln w="15240">
            <a:solidFill>
              <a:srgbClr val="F2A93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17736" y="39502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317736" y="4261104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执行回读</a:t>
            </a:r>
            <a:endParaRPr lang="en-US" sz="1700" dirty="0"/>
          </a:p>
        </p:txBody>
      </p:sp>
      <p:sp>
        <p:nvSpPr>
          <p:cNvPr id="33" name="Text 30"/>
          <p:cNvSpPr/>
          <p:nvPr/>
        </p:nvSpPr>
        <p:spPr>
          <a:xfrm>
            <a:off x="4846320" y="5669280"/>
            <a:ext cx="6163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DE5B6D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任何一道不通过，就停在建议层。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07 / 落地方式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先用一个装置，证明一个预警闭环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4–8 周只读 PoC；周期以现场数据条件为准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76072" y="1810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第 1–2 周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76072" y="2194560"/>
            <a:ext cx="2304288" cy="0"/>
          </a:xfrm>
          <a:prstGeom prst="line">
            <a:avLst/>
          </a:prstGeom>
          <a:noFill/>
          <a:ln w="63500">
            <a:solidFill>
              <a:srgbClr val="13C2C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6072" y="248716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定义问题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576072" y="3145536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选一个装置、一个风险目标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确认变量与化验标签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429000" y="1810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第 3–4 周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429000" y="2194560"/>
            <a:ext cx="2304288" cy="0"/>
          </a:xfrm>
          <a:prstGeom prst="line">
            <a:avLst/>
          </a:prstGeom>
          <a:noFill/>
          <a:ln w="63500">
            <a:solidFill>
              <a:srgbClr val="13C2C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248716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离线验证</a:t>
            </a:r>
            <a:endParaRPr lang="en-US" sz="2300" dirty="0"/>
          </a:p>
        </p:txBody>
      </p:sp>
      <p:sp>
        <p:nvSpPr>
          <p:cNvPr id="17" name="Text 14"/>
          <p:cNvSpPr/>
          <p:nvPr/>
        </p:nvSpPr>
        <p:spPr>
          <a:xfrm>
            <a:off x="3429000" y="3145536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清洗历史数据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回放异常窗口和证据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281928" y="1810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第 5–6 周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2194560"/>
            <a:ext cx="2304288" cy="0"/>
          </a:xfrm>
          <a:prstGeom prst="line">
            <a:avLst/>
          </a:prstGeom>
          <a:noFill/>
          <a:ln w="63500">
            <a:solidFill>
              <a:srgbClr val="13C2C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81928" y="248716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影子运行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6281928" y="3145536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只读接入 / 文件同步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与班组判断并行对照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134856" y="1810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第 7–8 周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134856" y="2194560"/>
            <a:ext cx="2304288" cy="0"/>
          </a:xfrm>
          <a:prstGeom prst="line">
            <a:avLst/>
          </a:prstGeom>
          <a:noFill/>
          <a:ln w="63500">
            <a:solidFill>
              <a:srgbClr val="F2A93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34856" y="248716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共同验收</a:t>
            </a:r>
            <a:endParaRPr lang="en-US" sz="2300" dirty="0"/>
          </a:p>
        </p:txBody>
      </p:sp>
      <p:sp>
        <p:nvSpPr>
          <p:cNvPr id="25" name="Text 22"/>
          <p:cNvSpPr/>
          <p:nvPr/>
        </p:nvSpPr>
        <p:spPr>
          <a:xfrm>
            <a:off x="9134856" y="3145536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看提前量、误报、可解释性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决定是否扩大范围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85800" y="4709160"/>
            <a:ext cx="10789920" cy="868680"/>
          </a:xfrm>
          <a:prstGeom prst="roundRect">
            <a:avLst>
              <a:gd name="adj" fmla="val 12632"/>
            </a:avLst>
          </a:prstGeom>
          <a:solidFill>
            <a:srgbClr val="EAF7FA"/>
          </a:solidFill>
          <a:ln w="15240">
            <a:solidFill>
              <a:srgbClr val="13C2C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87552" y="4937760"/>
            <a:ext cx="10186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最低数据清单：时间戳一致的过程变量、有限化验/事件标签、设备与工艺上下文、明确访问授权。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847088" y="5852160"/>
            <a:ext cx="8458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PoC 不承诺虚构效果；用共同认可的回放与影子运行结果决定下一步。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49808" y="749808"/>
            <a:ext cx="6583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下一步，不是“接管控制”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49808" y="1481328"/>
            <a:ext cx="7680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而是授权我们先看清</a:t>
            </a:r>
            <a:endParaRPr lang="en-US" sz="3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一个真实问题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749808" y="3337560"/>
            <a:ext cx="6144768" cy="1325880"/>
          </a:xfrm>
          <a:prstGeom prst="roundRect">
            <a:avLst>
              <a:gd name="adj" fmla="val 8276"/>
            </a:avLst>
          </a:prstGeom>
          <a:solidFill>
            <a:srgbClr val="12374A"/>
          </a:solidFill>
          <a:ln w="15240">
            <a:solidFill>
              <a:srgbClr val="13C2C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78992" y="36850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一个装置  ×  一个风险目标  ×  一条只读数据链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699248" y="160020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现场需要共同确认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7735824" y="2395728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01584" y="2286000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谁能授权数据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35824" y="3108960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01584" y="29992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最痛的异常是什么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735824" y="3822192"/>
            <a:ext cx="182880" cy="1828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01584" y="3712464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怎么定义“有用的提前量”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49808" y="599846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400800" y="5998464"/>
            <a:ext cx="4965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B5CAD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公开验证数据 ≠ 贵州企业真实数据 ｜ 公开案例参照 ≠ 合作关系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urce Han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Han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序安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序安·磷煤化工异常早期预警平台</dc:title>
  <dc:subject>磷煤化工园区异常早期预警</dc:subject>
  <dc:creator>序安</dc:creator>
  <cp:lastModifiedBy>序安</cp:lastModifiedBy>
  <cp:revision>1</cp:revision>
  <dcterms:created xsi:type="dcterms:W3CDTF">2026-08-29T15:36:33Z</dcterms:created>
  <dcterms:modified xsi:type="dcterms:W3CDTF">2026-08-29T15:36:33Z</dcterms:modified>
</cp:coreProperties>
</file>