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作品名是“序安·磷煤化工异常早期预警平台”。一句话介绍：让异常在化验结果前被看见。它不替代 DCS，也不替代操作员；它持续读取已经存在的过程数据，在化验结果出来前指出风险，并把判断依据和处置建议交给人确认。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这不是给“广大用户”的抽象平台。我们先服务一个具体人：中控操作员周师傅。他接班后看 DCS 和交接记录；曲线变怪时来回翻趋势、问上一班；关键结果没出来，还要打电话追化验、跨工段核对。损耗很具体：四处信息反复核对，等待吃掉处置窗口，高经验人员被重复排查占用，事后证据又难还原。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举一个普通观众也能理解的例子。过滤设备可能没有任何一个点立刻越过报警线，但过滤压差在抬升，进料流量开始波动，产品密度也偏离了过去的关系。单看每个点，好像都还能运行；把它们放在一起，异常的轮廓已经出现。这里展示的是典型场景，不是贵州企业的真实数据，也不是我们已经取得的现场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序安把过程拆成五步。第一，发现未来风险窗口。第二，对故障候选排序。第三，展示哪些变量、哪些时间段支持这个判断。第四，给出处置建议的先后顺序。第五，由操作员确认、驳回或升级。机器负责持续看，人负责最终决定，而且每一步都会留下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这一页是本轮公网真实截图。过程诊断模型先产生异常窗口、故障候选和变量证据；DeepSeek 只在这些结构化证据上做解释和问答。公网实测返回 llm_enhanced，模型是 deepseek-v4-flash，证据引用为 PH-P、PH-E 和 Q-E，每次调用都有 Trace。这证明解释增强链路已打通，但不代表语言模型可以控制设备。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评委可以现场复现。第一步，打开 https://huagong.finlaw.cloud/demo，用 operator-01 和口令 demo-op-2026 登录。第二步，选择污水出水风险或 TEP 场景，开始过程回放。第三步，进入捕获到的风险事件，向序安追问并做人工确认。2026 年 8 月 30 日公网完整 Playwright 用户旅程 11/11 通过，耗时约 2.6 分钟，覆盖双场景、AI 同链 Trace、人工决策、后台审计和多端无横向溢出。这是 Demo 可复现证据，不是生产验证。当前 Demo 只读，不会向 PLC 或 DCS 发送指令。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贵州省大数据发展管理局公开的“1468”案例说明，磷化工领域的能耗、品质、设备预测，以及 APC 加 RTO 的闭环优化，确实有产业价值。序安不重复讲一个泛化的“磷化工大模型”，而是补齐闭环之前的安全异常研判层：提前发现、故障候选、变量证据、人机接管和审计。我们与该案例没有合作关系，没有使用贵州企业真实数据，页面中的公开成效也不是序安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 Demo 的边界非常明确：只读数据、输出影子建议、由人确认，不自动写回 PLC 或 DCS。未来如果进入生产控制，也不是模型直接下指令，而是必须依次通过人工审批、身份与权限、工艺上下限、联锁校验、控制网关和执行回读。任何一道不通过，就停在建议层。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我们不把开源框架和赛前工作包装成四十八小时内从零完成。赛前和开源基线包括 Next.js、FastAPI、PostgreSQL 工程骨架，TEP 和 UCI 公开数据，基础回放和只读理念。本次四十八小时新增或重构的是：磷煤化工定位、污水与 TEP 双场景旅程、DeepSeek 真实在线解释与 Trace、人工确认和影子闸门，以及公网 Demo 和 Playwright 复现证据。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模型方面，污水软测量使用随机森林，TEP 使用 PCA 与梯度提升诊断，语言解释使用 deepseek-v4-flash。工具包括 Next.js、FastAPI、PostgreSQL、Python、Playwright 和 PptxGenJS。数据使用 UCI 公开城市污水数据和 TEP 公开仿真数据。Logo 是序安自有资产，截图由我们的公网 Demo 实拍，主视觉由 AI 生成且没有企业标识，中文字体 Source Han Sans SC 采用 SIL OFL 许可。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落地不需要一开始覆盖整个园区。我们建议先选一个装置、一个风险目标，确认变量和化验标签；然后做离线历史回放，检查异常窗口和证据；再进行只读影子运行，与班组判断并行对照；最后共同验收提前量、误报和可解释性。四到八周只是建议节奏，实际周期取决于现场数据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再给我们一百天，第一件事只有一句话：进入一个获授权装置，完成首个目标的只读数据对齐。我们不会一开始就接管控制，而是先选一个装置、一个风险目标和一条只读数据链。公开验证数据不等于贵州企业真实数据，公开案例参照也不等于合作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calight/Desktop/All in one Data/01_PROJECTS/FDE任务/03_产品与解决方案/03_连续化工过程偏移副驾驶/90_构建与分析缓存/序安磷煤化工异常早期预警平台_黑客松路演_v14/assets/园区封面主视觉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061B2A">
              <a:alpha val="88000"/>
            </a:srgbClr>
          </a:solidFill>
          <a:ln w="12700">
            <a:solidFill>
              <a:srgbClr val="061B2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01C">
              <a:alpha val="52000"/>
            </a:srgbClr>
          </a:solidFill>
          <a:ln w="12700">
            <a:solidFill>
              <a:srgbClr val="00101C">
                <a:alpha val="0"/>
              </a:srgbClr>
            </a:solidFill>
            <a:prstDash val="solid"/>
          </a:ln>
        </p:spPr>
      </p:sp>
      <p:pic>
        <p:nvPicPr>
          <p:cNvPr id="5" name="Image 1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512064"/>
            <a:ext cx="749808" cy="7498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6192" y="69494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731520" y="1417320"/>
            <a:ext cx="2194560" cy="347472"/>
          </a:xfrm>
          <a:prstGeom prst="roundRect">
            <a:avLst>
              <a:gd name="adj" fmla="val 31579"/>
            </a:avLst>
          </a:prstGeom>
          <a:solidFill>
            <a:srgbClr val="12374A"/>
          </a:solidFill>
          <a:ln w="15240">
            <a:solidFill>
              <a:srgbClr val="1237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1435608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黑客松路演 · REVIEW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1520" y="1874520"/>
            <a:ext cx="6720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磷煤化工异常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早期预警平台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749808" y="36758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让异常在化验结果前被看见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49808" y="43616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读懂 DCS 时序信号 · 给出原因证据 · 由人确认闭环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49808" y="59161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当前 Demo：只读 / 影子建议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81360" cy="0"/>
          </a:xfrm>
          <a:prstGeom prst="line">
            <a:avLst/>
          </a:prstGeom>
          <a:noFill/>
          <a:ln w="12700">
            <a:solidFill>
              <a:srgbClr val="DCEA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序安·磷煤化工异常早期预警平台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310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60" kern="0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 / 谁在用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85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中控操作员周师傅的一个白班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不讲“广大用户”，只看一个人如何判断</a:t>
            </a:r>
            <a:endParaRPr lang="en-US" sz="1600" dirty="0"/>
          </a:p>
        </p:txBody>
      </p:sp>
      <p:pic>
        <p:nvPicPr>
          <p:cNvPr id="8" name="Image 0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1904" y="201168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92256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" y="1874520"/>
            <a:ext cx="2542032" cy="2176272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0848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08:00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25786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接班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22960" y="31546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看 DCS 趋势与交接记录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00400" y="2889504"/>
            <a:ext cx="256032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474720" y="1874520"/>
            <a:ext cx="2542032" cy="2176272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75888" y="20848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10:20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75888" y="25786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曲线变怪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3675888" y="31546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来回翻趋势、问上一班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053328" y="2889504"/>
            <a:ext cx="256032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327648" y="1874520"/>
            <a:ext cx="2542032" cy="2176272"/>
          </a:xfrm>
          <a:prstGeom prst="roundRect">
            <a:avLst>
              <a:gd name="adj" fmla="val 5042"/>
            </a:avLst>
          </a:prstGeom>
          <a:solidFill>
            <a:srgbClr val="FFF5E4"/>
          </a:solidFill>
          <a:ln w="15240">
            <a:solidFill>
              <a:srgbClr val="F2A9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28816" y="20848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A9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11:00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28816" y="25786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等化验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6528816" y="31546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打电话追结果、跨工段核对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906256" y="2889504"/>
            <a:ext cx="256032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180576" y="1874520"/>
            <a:ext cx="2542032" cy="2176272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81744" y="20848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11:30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381744" y="25786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决定处置</a:t>
            </a:r>
            <a:endParaRPr lang="en-US" sz="2300" dirty="0"/>
          </a:p>
        </p:txBody>
      </p:sp>
      <p:sp>
        <p:nvSpPr>
          <p:cNvPr id="28" name="Text 25"/>
          <p:cNvSpPr/>
          <p:nvPr/>
        </p:nvSpPr>
        <p:spPr>
          <a:xfrm>
            <a:off x="9381744" y="31546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靠经验排查，再写交接记录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13232" y="4590288"/>
            <a:ext cx="10744200" cy="1170432"/>
          </a:xfrm>
          <a:prstGeom prst="roundRect">
            <a:avLst>
              <a:gd name="adj" fmla="val 9375"/>
            </a:avLst>
          </a:prstGeom>
          <a:solidFill>
            <a:srgbClr val="061B2A"/>
          </a:solidFill>
          <a:ln w="15240">
            <a:solidFill>
              <a:srgbClr val="061B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0120" y="4773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没有序安时的具体损耗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675888" y="4700016"/>
            <a:ext cx="7150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4 处信息反复核对  ·  等待吃掉处置窗口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高经验人员被重复排查占用  ·  事后证据难还原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calight/Desktop/All in one Data/01_PROJECTS/FDE任务/03_产品与解决方案/03_连续化工过程偏移副驾驶/90_构建与分析缓存/序安磷煤化工异常早期预警平台_黑客松路演_v14/assets/过滤异常主视觉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46520" y="0"/>
            <a:ext cx="5760720" cy="6858000"/>
          </a:xfrm>
          <a:prstGeom prst="rect">
            <a:avLst/>
          </a:prstGeom>
          <a:solidFill>
            <a:srgbClr val="061B2A">
              <a:alpha val="93000"/>
            </a:srgbClr>
          </a:solidFill>
          <a:ln w="12700">
            <a:solidFill>
              <a:srgbClr val="061B2A">
                <a:alpha val="0"/>
              </a:srgbClr>
            </a:solidFill>
            <a:prstDash val="solid"/>
          </a:ln>
        </p:spPr>
      </p:sp>
      <p:pic>
        <p:nvPicPr>
          <p:cNvPr id="4" name="Image 1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1904" y="201168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192256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967728" y="896112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一个异常，往往先表现为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几条曲线一起“不太对”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7114032" y="2432304"/>
            <a:ext cx="219456" cy="219456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516368" y="232257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过滤压差持续抬升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114032" y="3236976"/>
            <a:ext cx="219456" cy="219456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16368" y="312724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进料流量开始波动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114032" y="4041648"/>
            <a:ext cx="219456" cy="21945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516368" y="39319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产品密度偏离惯常关系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967728" y="4983480"/>
            <a:ext cx="4315968" cy="868680"/>
          </a:xfrm>
          <a:prstGeom prst="roundRect">
            <a:avLst>
              <a:gd name="adj" fmla="val 12632"/>
            </a:avLst>
          </a:prstGeom>
          <a:solidFill>
            <a:srgbClr val="12374A"/>
          </a:solidFill>
          <a:ln w="15240">
            <a:solidFill>
              <a:srgbClr val="13C2C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269480" y="519379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单点不一定报警，组合关系已经改变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040880" y="609904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5CAD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示意场景，不代表贵州企业真实数据或既有效果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81360" cy="0"/>
          </a:xfrm>
          <a:prstGeom prst="line">
            <a:avLst/>
          </a:prstGeom>
          <a:noFill/>
          <a:ln w="12700">
            <a:solidFill>
              <a:srgbClr val="DCEA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序安·磷煤化工异常早期预警平台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310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60" kern="0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 / 产品闭环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85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先发现，再把“为什么”讲清楚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五步主链路，操作员始终在环</a:t>
            </a:r>
            <a:endParaRPr lang="en-US" sz="1600" dirty="0"/>
          </a:p>
        </p:txBody>
      </p:sp>
      <p:pic>
        <p:nvPicPr>
          <p:cNvPr id="8" name="Image 0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1904" y="201168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92256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" y="2130552"/>
            <a:ext cx="1371600" cy="1371600"/>
          </a:xfrm>
          <a:prstGeom prst="ellipse">
            <a:avLst/>
          </a:prstGeom>
          <a:solidFill>
            <a:srgbClr val="EAF7FA"/>
          </a:solidFill>
          <a:ln w="27940">
            <a:solidFill>
              <a:srgbClr val="13C2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228600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263347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发现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194560" y="2816352"/>
            <a:ext cx="621792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676656" y="37856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未来窗口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017520" y="2130552"/>
            <a:ext cx="1371600" cy="1371600"/>
          </a:xfrm>
          <a:prstGeom prst="ellipse">
            <a:avLst/>
          </a:prstGeom>
          <a:solidFill>
            <a:srgbClr val="EAF7FA"/>
          </a:solidFill>
          <a:ln w="27940">
            <a:solidFill>
              <a:srgbClr val="13C2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56432" y="228600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27248" y="263347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判断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462272" y="2816352"/>
            <a:ext cx="621792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2944368" y="37856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候选故障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285232" y="2130552"/>
            <a:ext cx="1371600" cy="1371600"/>
          </a:xfrm>
          <a:prstGeom prst="ellipse">
            <a:avLst/>
          </a:prstGeom>
          <a:solidFill>
            <a:srgbClr val="EAF7FA"/>
          </a:solidFill>
          <a:ln w="27940">
            <a:solidFill>
              <a:srgbClr val="13C2C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24144" y="228600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94960" y="263347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解释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729984" y="2816352"/>
            <a:ext cx="621792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5212080" y="37856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变量证据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552944" y="2130552"/>
            <a:ext cx="1371600" cy="1371600"/>
          </a:xfrm>
          <a:prstGeom prst="ellipse">
            <a:avLst/>
          </a:prstGeom>
          <a:solidFill>
            <a:srgbClr val="EAF7FA"/>
          </a:solidFill>
          <a:ln w="27940">
            <a:solidFill>
              <a:srgbClr val="13C2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91856" y="228600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62672" y="263347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建议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8997696" y="2816352"/>
            <a:ext cx="621792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29" name="Text 26"/>
          <p:cNvSpPr/>
          <p:nvPr/>
        </p:nvSpPr>
        <p:spPr>
          <a:xfrm>
            <a:off x="7479792" y="37856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处置顺序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9820656" y="2130552"/>
            <a:ext cx="1371600" cy="1371600"/>
          </a:xfrm>
          <a:prstGeom prst="ellipse">
            <a:avLst/>
          </a:prstGeom>
          <a:solidFill>
            <a:srgbClr val="FFF5E4"/>
          </a:solidFill>
          <a:ln w="27940">
            <a:solidFill>
              <a:srgbClr val="F2A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259568" y="228600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A9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930384" y="263347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人工确认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747504" y="37856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接管与留痕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969264" y="4736592"/>
            <a:ext cx="10204704" cy="786384"/>
          </a:xfrm>
          <a:prstGeom prst="roundRect">
            <a:avLst>
              <a:gd name="adj" fmla="val 13953"/>
            </a:avLst>
          </a:prstGeom>
          <a:solidFill>
            <a:srgbClr val="061B2A"/>
          </a:solidFill>
          <a:ln w="15240">
            <a:solidFill>
              <a:srgbClr val="061B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80160" y="4937760"/>
            <a:ext cx="9582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机器负责持续看，人负责最终决定；每一次判断、追问和确认都留下审计记录。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81360" cy="0"/>
          </a:xfrm>
          <a:prstGeom prst="line">
            <a:avLst/>
          </a:prstGeom>
          <a:noFill/>
          <a:ln w="12700">
            <a:solidFill>
              <a:srgbClr val="DCEA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序安·磷煤化工异常早期预警平台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310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60" kern="0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 / 真实 AI 链路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85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诊断模型做判断，DeepSeek 把证据讲明白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公网实测：llm_enhanced / deepseek-v4-flash</a:t>
            </a:r>
            <a:endParaRPr lang="en-US" sz="1600" dirty="0"/>
          </a:p>
        </p:txBody>
      </p:sp>
      <p:pic>
        <p:nvPicPr>
          <p:cNvPr id="8" name="Image 0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1904" y="201168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92256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1755648"/>
            <a:ext cx="3858768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实时变量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12848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DCS / 传感器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441448" y="2414016"/>
            <a:ext cx="9144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58368" y="2596896"/>
            <a:ext cx="3858768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诊断模型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212848" y="2715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异常窗口与候选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441448" y="3255264"/>
            <a:ext cx="9144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58368" y="3438144"/>
            <a:ext cx="3858768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" y="3557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结构化证据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212848" y="35570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PH-P / PH-E / Q-E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41448" y="4096512"/>
            <a:ext cx="9144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58368" y="4279392"/>
            <a:ext cx="3858768" cy="621792"/>
          </a:xfrm>
          <a:prstGeom prst="roundRect">
            <a:avLst>
              <a:gd name="adj" fmla="val 17647"/>
            </a:avLst>
          </a:prstGeom>
          <a:solidFill>
            <a:srgbClr val="061B2A"/>
          </a:solidFill>
          <a:ln w="15240">
            <a:solidFill>
              <a:srgbClr val="061B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9536" y="43982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DeepSeek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212848" y="4398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解释、问答、Trace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441448" y="4937760"/>
            <a:ext cx="9144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58368" y="5120640"/>
            <a:ext cx="3858768" cy="621792"/>
          </a:xfrm>
          <a:prstGeom prst="roundRect">
            <a:avLst>
              <a:gd name="adj" fmla="val 17647"/>
            </a:avLst>
          </a:prstGeom>
          <a:solidFill>
            <a:srgbClr val="FFF5E4"/>
          </a:solidFill>
          <a:ln w="15240">
            <a:solidFill>
              <a:srgbClr val="F2A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9536" y="5239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操作员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2212848" y="5239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确认 / 驳回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773168" y="1737360"/>
            <a:ext cx="6702552" cy="4407408"/>
          </a:xfrm>
          <a:prstGeom prst="roundRect">
            <a:avLst>
              <a:gd name="adj" fmla="val 2490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pic>
        <p:nvPicPr>
          <p:cNvPr id="30" name="Image 1" descr="/Users/rocalight/Desktop/All in one Data/01_PROJECTS/FDE任务/03_产品与解决方案/03_连续化工过程偏移副驾驶/90_构建与分析缓存/序安磷煤化工异常早期预警平台_黑客松路演_v14/assets/screenshots/公网DeepSeek_AI研判与证据解释_首屏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865376"/>
            <a:ext cx="6446520" cy="4151376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8942832" y="5596128"/>
            <a:ext cx="2148840" cy="347472"/>
          </a:xfrm>
          <a:prstGeom prst="roundRect">
            <a:avLst>
              <a:gd name="adj" fmla="val 31579"/>
            </a:avLst>
          </a:prstGeom>
          <a:solidFill>
            <a:srgbClr val="12374A"/>
          </a:solidFill>
          <a:ln w="15240">
            <a:solidFill>
              <a:srgbClr val="12374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034272" y="561441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PLAYWRIGHT 公网实拍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13232" y="60533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E5B6D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语言模型只解释当前事件的结构化证据，不直接控制设备。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81360" cy="0"/>
          </a:xfrm>
          <a:prstGeom prst="line">
            <a:avLst/>
          </a:prstGeom>
          <a:noFill/>
          <a:ln w="12700">
            <a:solidFill>
              <a:srgbClr val="DCEA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序安·磷煤化工异常早期预警平台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310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60" kern="0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 / Demo 复现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85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评委现在就能自己跑一遍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公网链接 + 演示账号 + 三步操作</a:t>
            </a:r>
            <a:endParaRPr lang="en-US" sz="1600" dirty="0"/>
          </a:p>
        </p:txBody>
      </p:sp>
      <p:pic>
        <p:nvPicPr>
          <p:cNvPr id="8" name="Image 0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1904" y="201168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92256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1874520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EAF7FA"/>
          </a:solidFill>
          <a:ln w="15240">
            <a:solidFill>
              <a:srgbClr val="EAF7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1892808"/>
            <a:ext cx="384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44752" y="18653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登录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444752" y="226771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https://huagong.finlaw.cloud/demo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" y="3017520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EAF7FA"/>
          </a:solidFill>
          <a:ln w="15240">
            <a:solidFill>
              <a:srgbClr val="EAF7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3035808"/>
            <a:ext cx="384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44752" y="30083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回放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444752" y="341071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账号 operator-01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口令 demo-op-2026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8368" y="4160520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FFF5E4"/>
          </a:solidFill>
          <a:ln w="15240">
            <a:solidFill>
              <a:srgbClr val="FFF5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4178808"/>
            <a:ext cx="384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A9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444752" y="41513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追问并确认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444752" y="455371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选场景 → 开始回放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进事件 → 向序安追问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58368" y="5440680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061B2A"/>
          </a:solidFill>
          <a:ln w="15240">
            <a:solidFill>
              <a:srgbClr val="061B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9536" y="559612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当前 Demo：只读 / 影子建议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4096512" y="1810512"/>
            <a:ext cx="7388352" cy="4325112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pic>
        <p:nvPicPr>
          <p:cNvPr id="25" name="Image 1" descr="/Users/rocalight/Desktop/All in one Data/01_PROJECTS/FDE任务/03_产品与解决方案/03_连续化工过程偏移副驾驶/90_构建与分析缓存/序安磷煤化工异常早期预警平台_黑客松路演_v14/assets/screenshots/公网在线回放_144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938528"/>
            <a:ext cx="7132320" cy="4014216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8503920" y="5596128"/>
            <a:ext cx="2624328" cy="347472"/>
          </a:xfrm>
          <a:prstGeom prst="roundRect">
            <a:avLst>
              <a:gd name="adj" fmla="val 31579"/>
            </a:avLst>
          </a:prstGeom>
          <a:solidFill>
            <a:srgbClr val="12374A"/>
          </a:solidFill>
          <a:ln w="15240">
            <a:solidFill>
              <a:srgbClr val="12374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95360" y="5614416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公网用户旅程 11/11 通过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81360" cy="0"/>
          </a:xfrm>
          <a:prstGeom prst="line">
            <a:avLst/>
          </a:prstGeom>
          <a:noFill/>
          <a:ln w="12700">
            <a:solidFill>
              <a:srgbClr val="DCEA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序安·磷煤化工异常早期预警平台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310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60" kern="0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05 / 产业参照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85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闭环价值已经被证明，安全研判层仍需补齐</a:t>
            </a:r>
            <a:endParaRPr lang="en-US" sz="3000" dirty="0"/>
          </a:p>
        </p:txBody>
      </p:sp>
      <p:pic>
        <p:nvPicPr>
          <p:cNvPr id="7" name="Image 0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1904" y="201168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92256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1682496"/>
            <a:ext cx="521208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" y="1956816"/>
            <a:ext cx="2103120" cy="347472"/>
          </a:xfrm>
          <a:prstGeom prst="roundRect">
            <a:avLst>
              <a:gd name="adj" fmla="val 31579"/>
            </a:avLst>
          </a:prstGeom>
          <a:solidFill>
            <a:srgbClr val="EAF7FA"/>
          </a:solidFill>
          <a:ln w="15240">
            <a:solidFill>
              <a:srgbClr val="EAF7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1975104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贵州官方公开案例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2505456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“1468”装置</a:t>
            </a:r>
            <a:endParaRPr lang="en-US" sz="2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磷化工能耗优化大模型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978408" y="3584448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公开方向：能耗 / 品质 / 设备预测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APC + RTO 参数优化与边缘闭环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87552" y="4590288"/>
            <a:ext cx="43708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公开成效：能耗降低 2% 以上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操作频次下降 70% 以上 · 稳定性提升 30% 以上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36208" y="1682496"/>
            <a:ext cx="5257800" cy="4224528"/>
          </a:xfrm>
          <a:prstGeom prst="roundRect">
            <a:avLst>
              <a:gd name="adj" fmla="val 2597"/>
            </a:avLst>
          </a:prstGeom>
          <a:solidFill>
            <a:srgbClr val="061B2A"/>
          </a:solidFill>
          <a:ln w="15240">
            <a:solidFill>
              <a:srgbClr val="061B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10528" y="1956816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12374A"/>
          </a:solidFill>
          <a:ln w="15240">
            <a:solidFill>
              <a:srgbClr val="1237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968" y="1975104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序安的边界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10528" y="25237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补齐“安全异常研判层”</a:t>
            </a:r>
            <a:endParaRPr lang="en-US" sz="2700" dirty="0"/>
          </a:p>
        </p:txBody>
      </p:sp>
      <p:sp>
        <p:nvSpPr>
          <p:cNvPr id="19" name="Shape 16"/>
          <p:cNvSpPr/>
          <p:nvPr/>
        </p:nvSpPr>
        <p:spPr>
          <a:xfrm>
            <a:off x="6547104" y="3227832"/>
            <a:ext cx="182880" cy="182880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76288" y="31181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异常提前发现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547104" y="3758184"/>
            <a:ext cx="182880" cy="182880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76288" y="36484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故障候选排序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547104" y="4288536"/>
            <a:ext cx="182880" cy="182880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76288" y="4178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变量证据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547104" y="4818888"/>
            <a:ext cx="182880" cy="182880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76288" y="4709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人机接管与审计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510528" y="5413248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5CAD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无合作关系 · 未使用其真实数据 · 公开成效不是序安成果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13232" y="618134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来源：贵州省大数据发展管理局公开案例，2026-01-20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81360" cy="0"/>
          </a:xfrm>
          <a:prstGeom prst="line">
            <a:avLst/>
          </a:prstGeom>
          <a:noFill/>
          <a:ln w="12700">
            <a:solidFill>
              <a:srgbClr val="DCEA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序安·磷煤化工异常早期预警平台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310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60" kern="0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06 / 安全边界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85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现在只读；未来写回，要过六道闸门</a:t>
            </a:r>
            <a:endParaRPr lang="en-US" sz="3000" dirty="0"/>
          </a:p>
        </p:txBody>
      </p:sp>
      <p:pic>
        <p:nvPicPr>
          <p:cNvPr id="7" name="Image 0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1904" y="201168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92256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" y="1691640"/>
            <a:ext cx="2971800" cy="4224528"/>
          </a:xfrm>
          <a:prstGeom prst="roundRect">
            <a:avLst>
              <a:gd name="adj" fmla="val 3692"/>
            </a:avLst>
          </a:prstGeom>
          <a:solidFill>
            <a:srgbClr val="061B2A"/>
          </a:solidFill>
          <a:ln w="15240">
            <a:solidFill>
              <a:srgbClr val="06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20848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当前 Demo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7280" y="274320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只读数据</a:t>
            </a:r>
            <a:endParaRPr lang="en-US" sz="2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影子建议</a:t>
            </a:r>
            <a:endParaRPr lang="en-US" sz="2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人工确认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987552" y="488289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不自动写回 PLC / DCS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13632" y="3730752"/>
            <a:ext cx="731520" cy="0"/>
          </a:xfrm>
          <a:prstGeom prst="line">
            <a:avLst/>
          </a:prstGeom>
          <a:noFill/>
          <a:ln w="30480">
            <a:solidFill>
              <a:srgbClr val="13C2C2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4754880" y="17190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生产版路线图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736592" y="2487168"/>
            <a:ext cx="18562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3752" y="25968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73752" y="290779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人工审批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958584" y="2487168"/>
            <a:ext cx="18562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95744" y="25968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95744" y="290779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身份与权限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180576" y="2487168"/>
            <a:ext cx="18562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17736" y="25968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317736" y="290779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工艺上下限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4736592" y="3840480"/>
            <a:ext cx="18562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3752" y="39502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73752" y="4261104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联锁校验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6958584" y="3840480"/>
            <a:ext cx="18562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95744" y="39502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095744" y="4261104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控制网关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9180576" y="3840480"/>
            <a:ext cx="1856232" cy="960120"/>
          </a:xfrm>
          <a:prstGeom prst="roundRect">
            <a:avLst>
              <a:gd name="adj" fmla="val 11429"/>
            </a:avLst>
          </a:prstGeom>
          <a:solidFill>
            <a:srgbClr val="FFF5E4"/>
          </a:solidFill>
          <a:ln w="15240">
            <a:solidFill>
              <a:srgbClr val="F2A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17736" y="39502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317736" y="4261104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执行回读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4846320" y="5669280"/>
            <a:ext cx="6163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E5B6D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任何一道不通过，就停在建议层。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81360" cy="0"/>
          </a:xfrm>
          <a:prstGeom prst="line">
            <a:avLst/>
          </a:prstGeom>
          <a:noFill/>
          <a:ln w="12700">
            <a:solidFill>
              <a:srgbClr val="DCEA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序安·磷煤化工异常早期预警平台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310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60" kern="0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07 / 开发边界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85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48 小时做了什么，哪些不是这次才有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如实区分本次增量与赛前 / 开源基线</a:t>
            </a:r>
            <a:endParaRPr lang="en-US" sz="1600" dirty="0"/>
          </a:p>
        </p:txBody>
      </p:sp>
      <p:pic>
        <p:nvPicPr>
          <p:cNvPr id="8" name="Image 0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1904" y="201168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92256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6656" y="1755648"/>
            <a:ext cx="5230368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2148840" cy="347472"/>
          </a:xfrm>
          <a:prstGeom prst="roundRect">
            <a:avLst>
              <a:gd name="adj" fmla="val 31579"/>
            </a:avLst>
          </a:prstGeom>
          <a:solidFill>
            <a:srgbClr val="EAF7FA"/>
          </a:solidFill>
          <a:ln w="15240">
            <a:solidFill>
              <a:srgbClr val="EAF7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04825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赛前 / 开源基线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2688" y="2578608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不算本次独立从零开发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978408" y="3273552"/>
            <a:ext cx="146304" cy="146304"/>
          </a:xfrm>
          <a:prstGeom prst="ellipse">
            <a:avLst/>
          </a:prstGeom>
          <a:solidFill>
            <a:srgbClr val="24839B"/>
          </a:solidFill>
          <a:ln w="12700">
            <a:solidFill>
              <a:srgbClr val="2483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315468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Next.js / FastAPI / PostgreSQL 工程骨架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978408" y="3803904"/>
            <a:ext cx="146304" cy="146304"/>
          </a:xfrm>
          <a:prstGeom prst="ellipse">
            <a:avLst/>
          </a:prstGeom>
          <a:solidFill>
            <a:srgbClr val="24839B"/>
          </a:solidFill>
          <a:ln w="12700">
            <a:solidFill>
              <a:srgbClr val="24839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61872" y="3685032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TEP 与 UCI 公开数据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978408" y="4334256"/>
            <a:ext cx="146304" cy="146304"/>
          </a:xfrm>
          <a:prstGeom prst="ellipse">
            <a:avLst/>
          </a:prstGeom>
          <a:solidFill>
            <a:srgbClr val="24839B"/>
          </a:solidFill>
          <a:ln w="12700">
            <a:solidFill>
              <a:srgbClr val="24839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61872" y="4215384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基础过程回放与只读理念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978408" y="4864608"/>
            <a:ext cx="146304" cy="146304"/>
          </a:xfrm>
          <a:prstGeom prst="ellipse">
            <a:avLst/>
          </a:prstGeom>
          <a:solidFill>
            <a:srgbClr val="24839B"/>
          </a:solidFill>
          <a:ln w="12700">
            <a:solidFill>
              <a:srgbClr val="24839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61872" y="4745736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开源依赖和通用工具链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236208" y="1755648"/>
            <a:ext cx="5257800" cy="4315968"/>
          </a:xfrm>
          <a:prstGeom prst="roundRect">
            <a:avLst>
              <a:gd name="adj" fmla="val 2542"/>
            </a:avLst>
          </a:prstGeom>
          <a:solidFill>
            <a:srgbClr val="061B2A"/>
          </a:solidFill>
          <a:ln w="15240">
            <a:solidFill>
              <a:srgbClr val="061B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10528" y="2029968"/>
            <a:ext cx="2487168" cy="347472"/>
          </a:xfrm>
          <a:prstGeom prst="roundRect">
            <a:avLst>
              <a:gd name="adj" fmla="val 31579"/>
            </a:avLst>
          </a:prstGeom>
          <a:solidFill>
            <a:srgbClr val="12374A"/>
          </a:solidFill>
          <a:ln w="15240">
            <a:solidFill>
              <a:srgbClr val="1237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01968" y="2048256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本次 48 小时新增 / 重构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10528" y="2578608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可验证的增量</a:t>
            </a:r>
            <a:endParaRPr lang="en-US" sz="2300" dirty="0"/>
          </a:p>
        </p:txBody>
      </p:sp>
      <p:sp>
        <p:nvSpPr>
          <p:cNvPr id="26" name="Shape 23"/>
          <p:cNvSpPr/>
          <p:nvPr/>
        </p:nvSpPr>
        <p:spPr>
          <a:xfrm>
            <a:off x="6547104" y="3182112"/>
            <a:ext cx="146304" cy="146304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39712" y="306324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磷煤化工异常早期预警定位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547104" y="3675888"/>
            <a:ext cx="146304" cy="146304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39712" y="355701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污水软测量 + TEP 双场景旅程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547104" y="4169664"/>
            <a:ext cx="146304" cy="14630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39712" y="405079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DeepSeek 真实在线解释与 Trace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547104" y="4663440"/>
            <a:ext cx="146304" cy="146304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39712" y="454456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人工确认、影子闸门与公网 Demo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547104" y="5157216"/>
            <a:ext cx="146304" cy="146304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39712" y="503834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公网 Playwright 用户旅程 11/11 通过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81360" cy="0"/>
          </a:xfrm>
          <a:prstGeom prst="line">
            <a:avLst/>
          </a:prstGeom>
          <a:noFill/>
          <a:ln w="12700">
            <a:solidFill>
              <a:srgbClr val="DCEA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序安·磷煤化工异常早期预警平台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310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60" kern="0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08 / 技术与来源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85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模型、工具、数据和素材从哪里来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可复现，也可追溯</a:t>
            </a:r>
            <a:endParaRPr lang="en-US" sz="1600" dirty="0"/>
          </a:p>
        </p:txBody>
      </p:sp>
      <p:pic>
        <p:nvPicPr>
          <p:cNvPr id="8" name="Image 0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1904" y="201168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92256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1755648"/>
            <a:ext cx="5230368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19659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模型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267712" y="195681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污水软测量：随机森林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TEP：PCA / 梯度提升诊断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解释：deepseek-v4-flash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09360" y="1755648"/>
            <a:ext cx="5230368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19659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工具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936992" y="195681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Next.js · FastAPI · PostgreSQL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Python · Playwright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PptxGenJS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" y="3904488"/>
            <a:ext cx="5230368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240">
            <a:solidFill>
              <a:srgbClr val="DCEA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41148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267712" y="410565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UCI 城市污水：官网 527 条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本地镜像 520 条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TEP 公开仿真数据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09360" y="3904488"/>
            <a:ext cx="5230368" cy="1810512"/>
          </a:xfrm>
          <a:prstGeom prst="roundRect">
            <a:avLst>
              <a:gd name="adj" fmla="val 6061"/>
            </a:avLst>
          </a:prstGeom>
          <a:solidFill>
            <a:srgbClr val="FFF5E4"/>
          </a:solidFill>
          <a:ln w="15240">
            <a:solidFill>
              <a:srgbClr val="F2A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65392" y="41148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A9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素材授权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36992" y="410565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Logo：序安自有资产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截图：自有公网 Demo 实拍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主视觉：AI 生成，无企业标识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Source Han Sans SC：SIL OFL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34440" y="6144768"/>
            <a:ext cx="9738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E5B6D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公开数据 ≠ 贵州真实生产数据  ·  官方案例引用 ≠ 合作关系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81360" cy="0"/>
          </a:xfrm>
          <a:prstGeom prst="line">
            <a:avLst/>
          </a:prstGeom>
          <a:noFill/>
          <a:ln w="12700">
            <a:solidFill>
              <a:srgbClr val="DCEA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序安·磷煤化工异常早期预警平台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310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60" kern="0" dirty="0">
                <a:solidFill>
                  <a:srgbClr val="24839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09 / 落地方式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85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先用一个装置，证明一个预警闭环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4–8 周只读 PoC；周期以现场数据条件为准</a:t>
            </a:r>
            <a:endParaRPr lang="en-US" sz="1600" dirty="0"/>
          </a:p>
        </p:txBody>
      </p:sp>
      <p:pic>
        <p:nvPicPr>
          <p:cNvPr id="8" name="Image 0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1904" y="201168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92256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 1–2 周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" y="2194560"/>
            <a:ext cx="2304288" cy="0"/>
          </a:xfrm>
          <a:prstGeom prst="line">
            <a:avLst/>
          </a:prstGeom>
          <a:noFill/>
          <a:ln w="63500">
            <a:solidFill>
              <a:srgbClr val="13C2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" y="248716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定义问题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76072" y="3145536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选一个装置、一个风险目标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确认变量与化验标签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29000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 3–4 周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29000" y="2194560"/>
            <a:ext cx="2304288" cy="0"/>
          </a:xfrm>
          <a:prstGeom prst="line">
            <a:avLst/>
          </a:prstGeom>
          <a:noFill/>
          <a:ln w="63500">
            <a:solidFill>
              <a:srgbClr val="13C2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248716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离线验证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429000" y="3145536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清洗历史数据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回放异常窗口和证据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81928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 5–6 周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81928" y="2194560"/>
            <a:ext cx="2304288" cy="0"/>
          </a:xfrm>
          <a:prstGeom prst="line">
            <a:avLst/>
          </a:prstGeom>
          <a:noFill/>
          <a:ln w="63500">
            <a:solidFill>
              <a:srgbClr val="13C2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81928" y="248716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影子运行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6281928" y="3145536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只读接入 / 文件同步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与班组判断并行对照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134856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 7–8 周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34856" y="2194560"/>
            <a:ext cx="2304288" cy="0"/>
          </a:xfrm>
          <a:prstGeom prst="line">
            <a:avLst/>
          </a:prstGeom>
          <a:noFill/>
          <a:ln w="63500">
            <a:solidFill>
              <a:srgbClr val="F2A9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34856" y="248716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共同验收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9134856" y="3145536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看提前量、误报、可解释性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决定是否扩大范围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85800" y="4709160"/>
            <a:ext cx="10789920" cy="868680"/>
          </a:xfrm>
          <a:prstGeom prst="roundRect">
            <a:avLst>
              <a:gd name="adj" fmla="val 12632"/>
            </a:avLst>
          </a:prstGeom>
          <a:solidFill>
            <a:srgbClr val="EAF7FA"/>
          </a:solidFill>
          <a:ln w="15240">
            <a:solidFill>
              <a:srgbClr val="13C2C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493776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2A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最低数据清单：时间戳一致的过程变量、有限化验/事件标签、设备与工艺上下文、明确访问授权。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847088" y="5852160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27987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PoC 不承诺虚构效果；用共同认可的回放与影子运行结果决定下一步。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1904" y="20116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92256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49808" y="749808"/>
            <a:ext cx="6583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再给 100 天，我们先做什么？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49808" y="1481328"/>
            <a:ext cx="7680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进入一个获授权装置，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完成首个目标的只读数据对齐。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49808" y="3337560"/>
            <a:ext cx="6144768" cy="1325880"/>
          </a:xfrm>
          <a:prstGeom prst="roundRect">
            <a:avLst>
              <a:gd name="adj" fmla="val 8276"/>
            </a:avLst>
          </a:prstGeom>
          <a:solidFill>
            <a:srgbClr val="12374A"/>
          </a:solidFill>
          <a:ln w="15240">
            <a:solidFill>
              <a:srgbClr val="13C2C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3685032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一个装置  ×  一个风险目标  ×  一条只读数据链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699248" y="16002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C2C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现场需要共同确认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35824" y="2395728"/>
            <a:ext cx="182880" cy="182880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01584" y="2286000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谁能授权数据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35824" y="3108960"/>
            <a:ext cx="182880" cy="182880"/>
          </a:xfrm>
          <a:prstGeom prst="ellipse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01584" y="299923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最痛的异常是什么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35824" y="3822192"/>
            <a:ext cx="182880" cy="1828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01584" y="3712464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怎么定义“有用的提前量”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9808" y="599846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序安·磷煤化工异常早期预警平台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400800" y="5998464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AD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公开验证数据 ≠ 贵州企业真实数据 ｜ 公开案例参照 ≠ 合作关系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Han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序安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序安·磷煤化工异常早期预警平台</dc:title>
  <dc:subject>磷煤化工园区异常早期预警</dc:subject>
  <dc:creator>序安</dc:creator>
  <cp:lastModifiedBy>序安</cp:lastModifiedBy>
  <cp:revision>1</cp:revision>
  <dcterms:created xsi:type="dcterms:W3CDTF">2026-08-29T16:44:08Z</dcterms:created>
  <dcterms:modified xsi:type="dcterms:W3CDTF">2026-08-29T16:44:08Z</dcterms:modified>
</cp:coreProperties>
</file>