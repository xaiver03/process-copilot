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大家好，这是序安磷煤化工异常早期预警平台。它解决一个具体问题：现场已经有 DCS 在线数据，能不能在离线化验结果出来前，更早看到质量和过程异常？部分产业背景参考贵阳息烽磷煤化工园区公开资料；这不代表我们与园区或相关企业已有合作。
[Sources]
- 息烽磷煤化工园区公开资料，仅作产业背景参考
- 封面主视觉：内置 imagegen 生成，无企业标识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从公开资料看，磷化工园区不是一条孤立生产线，而是由湿法磷酸、下游产品、磷石膏处置和资源循环共同组成的复杂系统。一个工段的变化，可能影响后续质量、设备负荷和处置压力。这类场景适合验证序安的核心能力：利用已有过程数据，提前判断风险并给出证据。
[Sources]
- 队友稿：贵阳息烽磷煤化工园区AI赋能应用思路_汇报精简版.pptx（仅作公开资料研究参考）
- 无合作关系，未使用园区真实生产数据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DCS 能持续记录温度、压力、流量、液位和设备状态，但部分关键质量结果仍要等待取样和离线化验。序安不替代 DCS，也不替代化验，而是利用这段时间里已经产生的数据，先形成风险判断窗口。这里列出的方向是基于公开资料提出的 PoC 构想，不是园区已经确认的需求。
[Sources]
- docs/submission/序安DCS智能预判平台_磷化工园区背景融合路演提纲_v04_REVIEW.md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序安位于现有 DCS 和人员判断之间。它先预测风险，再告诉操作员为什么这样判断、应该先检查什么。人员可以确认、驳回或补充备注，每一步都能回看。当前 Demo 做的是判断和审计闭环，不是自动控制闭环。
[Sources]
- README.md：当前只读边界
- apps/web 用户旅程验收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这一页是公开数据技术验证。UCI 城市污水数据用于验证预测滞后结果、展示变量证据和等待人工确认的链路。它不是磷煤化工园区真实数据，也不能被说成园区实际效果。官网记录五百二十七条，当前本地镜像五百二十条，差异不自行归因。
[Sources]
- UCI Water Treatment Plant：https://archive.ics.uci.edu/dataset/106/water+treatment+plant
- 官网 527 条；当前本地镜像 520 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系统不能只给一个风险分数。它还要指出哪些变量与这次判断关系最大、趋势怎样变化、数据是否完整。操作员可以继续追问，并决定确认还是驳回。变量相关性只是排查线索，不能直接冒充已经确认的工艺原因。
[Sources]
- 用户旅程验收 UJ03-01：操作员 AI 追问
- 当前截图为 TEP 产品链路，不是园区数据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TEP 是第二组公开技术验证，展示连续过程多变量偏移、故障候选和变量证据。它帮助验证异常研判链路，但不是贵州企业或息烽园区数据，也不证明真实生产收益。
[Sources]
- TEP 上游：https://github.com/camaramm/tennessee-eastman-profBraatz
- 现有真实产品截图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公开产业资料说明，磷化工中的预测、参数优化和边缘闭环值得继续探索。序安不重复讲一个泛化的磷化工大模型，而是聚焦闭环之前的风险研判、变量证据、人工接管和审计。息烽园区资料和官方案例都只是产业背景与写作参考，不是我们的合作案例，也不证明序安已经在现场运行。
[Sources]
- 贵州省大数据发展管理局公开案例，2026-01-20
- 明确：无合作关系，未使用真实生产数据，公开成效不属于序安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当前 Demo 是只读影子建议。未来是否进入受控写回，需要由真实项目评估，而且必须经过人工审批、权限、工艺上下限、联锁、网关和执行回读。其中任何一步失败，都不能显示为执行成功。
[Sources]
- README.md：系统只提供读侧证据与建议
- 未来写回架构为路线图，不代表已实现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[逐字稿]
如果未来有机会与磷化工园区或企业正式沟通，第一步不是承诺一个大平台，而是选一套装置、一个关键化验目标和一条只读数据链。先让工艺人员验证预测和证据是否有用，再讨论下一阶段。今天引用的园区内容只是公开产业背景，不代表合作已经发生。
[Sources]
- docs/submission/序安DCS智能预判平台_磷化工园区背景融合路演提纲_v04_REVIEW.md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719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 · 磷煤化工异常早期预警平台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796528" y="164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公开资料研究 · 当前只读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calight/Desktop/All in one Data/01_PROJECTS/FDE任务/03_产品与解决方案/03_连续化工过程偏移副驾驶/90_构建与分析缓存/序安磷煤化工异常早期预警平台_黑客松路演_v13/assets/磷化工园区_封面主视觉_v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2E">
              <a:alpha val="78000"/>
            </a:srgbClr>
          </a:solidFill>
          <a:ln w="12700">
            <a:solidFill>
              <a:srgbClr val="071E2E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071E2E">
              <a:alpha val="94000"/>
            </a:srgbClr>
          </a:solidFill>
          <a:ln w="12700">
            <a:solidFill>
              <a:srgbClr val="071E2E">
                <a:alpha val="0"/>
              </a:srgbClr>
            </a:solidFill>
            <a:prstDash val="solid"/>
          </a:ln>
        </p:spPr>
      </p:sp>
      <p:pic>
        <p:nvPicPr>
          <p:cNvPr id="5" name="Image 1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530352"/>
            <a:ext cx="749808" cy="7498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6035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685800" y="1536192"/>
            <a:ext cx="3474720" cy="347472"/>
          </a:xfrm>
          <a:prstGeom prst="roundRect">
            <a:avLst>
              <a:gd name="adj" fmla="val 31579"/>
            </a:avLst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58952" y="160020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磷煤化工异常早期预警平台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2057400"/>
            <a:ext cx="5715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让过程风险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在化验结果出来前先被看见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713232" y="378561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7EEF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基于已有 DCS 时序数据，预测风险、解释证据、由人确认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85800" y="480060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0B2D42">
              <a:alpha val="92000"/>
            </a:srgbClr>
          </a:solidFill>
          <a:ln w="16510">
            <a:solidFill>
              <a:srgbClr val="25C7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32688" y="5020056"/>
            <a:ext cx="4956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产业背景参考：贵阳息烽磷煤化工园区公开资料</a:t>
            </a:r>
            <a:endParaRPr lang="en-US" sz="1650" dirty="0"/>
          </a:p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无合作关系 · 未使用园区真实生产数据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13232" y="61996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AD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HACKATHON REVIEW · v13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 · 产业背景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磷煤化工园区为什么需要更早判断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3504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公开资料显示：生产、质量、处置与资源循环相互牵动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0B2D42"/>
          </a:solidFill>
          <a:ln w="15240">
            <a:solidFill>
              <a:srgbClr val="0B2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湿法磷酸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E8E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过程持续运行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35808" y="2761488"/>
            <a:ext cx="384048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93008" y="205740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下游产品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94176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质量结果滞后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70448" y="2761488"/>
            <a:ext cx="384048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27648" y="205740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磷石膏处置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28816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处置压力变化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05088" y="2761488"/>
            <a:ext cx="384048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62288" y="205740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资源循环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363456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多工段相互影响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24128" y="4133088"/>
            <a:ext cx="10149840" cy="1078992"/>
          </a:xfrm>
          <a:prstGeom prst="roundRect">
            <a:avLst>
              <a:gd name="adj" fmla="val 10169"/>
            </a:avLst>
          </a:prstGeom>
          <a:solidFill>
            <a:srgbClr val="E9F4F5"/>
          </a:solidFill>
          <a:ln w="17780">
            <a:solidFill>
              <a:srgbClr val="25C7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416552"/>
            <a:ext cx="9464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一个工段变化，可能同时影响后续质量、设备负荷和处置压力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4590288" y="5522976"/>
            <a:ext cx="2971800" cy="347472"/>
          </a:xfrm>
          <a:prstGeom prst="roundRect">
            <a:avLst>
              <a:gd name="adj" fmla="val 31579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5586984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公开资料研究背景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" y="63367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参考：息烽园区公开规划、公开环评与产业报道；不代表序安掌握园区内部参数或已获得业务确认。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 · 具体堵点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变量已经在线，关键结果仍要等待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3504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补的是 DCS 与离线化验之间的判断窗口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21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19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DCS 在线变量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持续到达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81528" y="2788920"/>
            <a:ext cx="365760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20440" y="196596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221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19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取样与离线化验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749040" y="3127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结果稍后返回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16168" y="2788920"/>
            <a:ext cx="365760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196596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0B2D42"/>
          </a:solidFill>
          <a:ln w="15240">
            <a:solidFill>
              <a:srgbClr val="0B2D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221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风险窗口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83680" y="3127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E8E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提前组织证据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50808" y="2788920"/>
            <a:ext cx="365760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89720" y="1965960"/>
            <a:ext cx="2331720" cy="1691640"/>
          </a:xfrm>
          <a:prstGeom prst="roundRect">
            <a:avLst>
              <a:gd name="adj" fmla="val 6486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22219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19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1832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人工确认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418320" y="312724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决定与留痕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3434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序安不替代 DCS，也不替代化验；它把判断时间往前移。</a:t>
            </a:r>
            <a:endParaRPr lang="en-US" sz="2900" dirty="0"/>
          </a:p>
        </p:txBody>
      </p:sp>
      <p:sp>
        <p:nvSpPr>
          <p:cNvPr id="25" name="Shape 23"/>
          <p:cNvSpPr/>
          <p:nvPr/>
        </p:nvSpPr>
        <p:spPr>
          <a:xfrm>
            <a:off x="1847088" y="5257800"/>
            <a:ext cx="2514600" cy="347472"/>
          </a:xfrm>
          <a:prstGeom prst="roundRect">
            <a:avLst>
              <a:gd name="adj" fmla="val 31579"/>
            </a:avLst>
          </a:prstGeom>
          <a:solidFill>
            <a:srgbClr val="E9F4F5"/>
          </a:solidFill>
          <a:ln w="12700">
            <a:solidFill>
              <a:srgbClr val="E9F4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532180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关键质量软测量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27448" y="5257800"/>
            <a:ext cx="2514600" cy="347472"/>
          </a:xfrm>
          <a:prstGeom prst="roundRect">
            <a:avLst>
              <a:gd name="adj" fmla="val 31579"/>
            </a:avLst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532180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污水出水风险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07808" y="5257800"/>
            <a:ext cx="2514600" cy="347472"/>
          </a:xfrm>
          <a:prstGeom prst="roundRect">
            <a:avLst>
              <a:gd name="adj" fmla="val 31579"/>
            </a:avLst>
          </a:prstGeom>
          <a:solidFill>
            <a:srgbClr val="E9F4F5"/>
          </a:solidFill>
          <a:ln w="12700">
            <a:solidFill>
              <a:srgbClr val="E9F4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5321808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连续过程偏移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" y="63367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以上为基于公开产业背景提出的 PoC 方向，不是园区已确认需求。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 · 产品链路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预测风险，解释原因，把决定权留给人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3504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五个动作组成可追溯的判断闭环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2029968"/>
            <a:ext cx="987552" cy="987552"/>
          </a:xfrm>
          <a:prstGeom prst="ellipse">
            <a:avLst/>
          </a:prstGeom>
          <a:solidFill>
            <a:srgbClr val="0B2D42"/>
          </a:solidFill>
          <a:ln w="25400">
            <a:solidFill>
              <a:srgbClr val="25C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3042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发现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58368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风险或偏移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40280" y="2532888"/>
            <a:ext cx="658368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93008" y="2029968"/>
            <a:ext cx="987552" cy="987552"/>
          </a:xfrm>
          <a:prstGeom prst="ellipse">
            <a:avLst/>
          </a:prstGeom>
          <a:solidFill>
            <a:srgbClr val="0B2D42"/>
          </a:solidFill>
          <a:ln w="25400">
            <a:solidFill>
              <a:srgbClr val="25C7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3042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62656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判断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962656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候选与置信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44568" y="2532888"/>
            <a:ext cx="658368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97296" y="2029968"/>
            <a:ext cx="987552" cy="987552"/>
          </a:xfrm>
          <a:prstGeom prst="ellipse">
            <a:avLst/>
          </a:prstGeom>
          <a:solidFill>
            <a:srgbClr val="0B2D42"/>
          </a:solidFill>
          <a:ln w="25400">
            <a:solidFill>
              <a:srgbClr val="25C7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7296" y="23042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解释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5266944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变量证据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48856" y="2532888"/>
            <a:ext cx="658368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01584" y="2029968"/>
            <a:ext cx="987552" cy="987552"/>
          </a:xfrm>
          <a:prstGeom prst="ellipse">
            <a:avLst/>
          </a:prstGeom>
          <a:solidFill>
            <a:srgbClr val="0B2D42"/>
          </a:solidFill>
          <a:ln w="25400">
            <a:solidFill>
              <a:srgbClr val="25C7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1584" y="23042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71232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建议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571232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先查什么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53144" y="2532888"/>
            <a:ext cx="658368" cy="0"/>
          </a:xfrm>
          <a:prstGeom prst="line">
            <a:avLst/>
          </a:prstGeom>
          <a:noFill/>
          <a:ln w="25400">
            <a:solidFill>
              <a:srgbClr val="25C7C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05872" y="2029968"/>
            <a:ext cx="987552" cy="987552"/>
          </a:xfrm>
          <a:prstGeom prst="ellipse">
            <a:avLst/>
          </a:prstGeom>
          <a:solidFill>
            <a:srgbClr val="32A879"/>
          </a:solidFill>
          <a:ln w="25400">
            <a:solidFill>
              <a:srgbClr val="32A8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05872" y="230428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75520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确认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98755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人审与记录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87552" y="4709160"/>
            <a:ext cx="10195560" cy="868680"/>
          </a:xfrm>
          <a:prstGeom prst="roundRect">
            <a:avLst>
              <a:gd name="adj" fmla="val 12632"/>
            </a:avLst>
          </a:prstGeom>
          <a:solidFill>
            <a:srgbClr val="E9F4F5"/>
          </a:solidFill>
          <a:ln w="15240">
            <a:solidFill>
              <a:srgbClr val="25C7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500176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负责持续读取与组织证据　｜　现场人员负责最终判断　｜　系统负责审计留痕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1792" y="63367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当前 Demo 是判断与审计闭环，不是自动控制闭环。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 · 技术验证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公开数据验证预测链路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3504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公开城市污水数据只用于验证“预测—证据—人工确认”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6903720" cy="3886200"/>
          </a:xfrm>
          <a:prstGeom prst="roundRect">
            <a:avLst>
              <a:gd name="adj" fmla="val 2824"/>
            </a:avLst>
          </a:prstGeom>
          <a:solidFill>
            <a:srgbClr val="0B2D42"/>
          </a:solidFill>
          <a:ln w="15240">
            <a:solidFill>
              <a:srgbClr val="0B2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212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从“已发生”看向“可能发生”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617720" y="226771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7CBD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趋势结构示意 · 非真实效果数据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78992" y="2907792"/>
            <a:ext cx="5989320" cy="576072"/>
          </a:xfrm>
          <a:prstGeom prst="rect">
            <a:avLst/>
          </a:prstGeom>
          <a:solidFill>
            <a:srgbClr val="E35B55">
              <a:alpha val="18000"/>
            </a:srgbClr>
          </a:solidFill>
          <a:ln w="12700">
            <a:solidFill>
              <a:srgbClr val="E35B55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483864"/>
            <a:ext cx="5989320" cy="0"/>
          </a:xfrm>
          <a:prstGeom prst="line">
            <a:avLst/>
          </a:prstGeom>
          <a:noFill/>
          <a:ln w="22860">
            <a:solidFill>
              <a:srgbClr val="E35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3063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6D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风险阈值（示意）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78992" y="5257800"/>
            <a:ext cx="5989320" cy="0"/>
          </a:xfrm>
          <a:prstGeom prst="line">
            <a:avLst/>
          </a:prstGeom>
          <a:noFill/>
          <a:ln w="15240">
            <a:solidFill>
              <a:srgbClr val="5F83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992" y="2834640"/>
            <a:ext cx="0" cy="2423160"/>
          </a:xfrm>
          <a:prstGeom prst="line">
            <a:avLst/>
          </a:prstGeom>
          <a:noFill/>
          <a:ln w="15240">
            <a:solidFill>
              <a:srgbClr val="5F83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" y="4828032"/>
            <a:ext cx="612648" cy="-91440"/>
          </a:xfrm>
          <a:prstGeom prst="line">
            <a:avLst/>
          </a:prstGeom>
          <a:noFill/>
          <a:ln w="44450">
            <a:solidFill>
              <a:srgbClr val="64E1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3080" y="4736592"/>
            <a:ext cx="612648" cy="54864"/>
          </a:xfrm>
          <a:prstGeom prst="line">
            <a:avLst/>
          </a:prstGeom>
          <a:noFill/>
          <a:ln w="44450">
            <a:solidFill>
              <a:srgbClr val="64E1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95728" y="4791456"/>
            <a:ext cx="612648" cy="-192024"/>
          </a:xfrm>
          <a:prstGeom prst="line">
            <a:avLst/>
          </a:prstGeom>
          <a:noFill/>
          <a:ln w="44450">
            <a:solidFill>
              <a:srgbClr val="64E1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8376" y="4599432"/>
            <a:ext cx="612648" cy="-109728"/>
          </a:xfrm>
          <a:prstGeom prst="line">
            <a:avLst/>
          </a:prstGeom>
          <a:noFill/>
          <a:ln w="44450">
            <a:solidFill>
              <a:srgbClr val="64E1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21024" y="4489704"/>
            <a:ext cx="612648" cy="-173736"/>
          </a:xfrm>
          <a:prstGeom prst="line">
            <a:avLst/>
          </a:prstGeom>
          <a:noFill/>
          <a:ln w="44450">
            <a:solidFill>
              <a:srgbClr val="64E1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33672" y="4315968"/>
            <a:ext cx="612648" cy="-155448"/>
          </a:xfrm>
          <a:prstGeom prst="line">
            <a:avLst/>
          </a:prstGeom>
          <a:noFill/>
          <a:ln w="44450">
            <a:solidFill>
              <a:srgbClr val="64E1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4160520"/>
            <a:ext cx="530352" cy="-228600"/>
          </a:xfrm>
          <a:prstGeom prst="line">
            <a:avLst/>
          </a:prstGeom>
          <a:noFill/>
          <a:ln w="44450">
            <a:solidFill>
              <a:srgbClr val="F2A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6672" y="3931920"/>
            <a:ext cx="530352" cy="-402336"/>
          </a:xfrm>
          <a:prstGeom prst="line">
            <a:avLst/>
          </a:prstGeom>
          <a:noFill/>
          <a:ln w="44450">
            <a:solidFill>
              <a:srgbClr val="F2A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3529584"/>
            <a:ext cx="530352" cy="-301752"/>
          </a:xfrm>
          <a:prstGeom prst="line">
            <a:avLst/>
          </a:prstGeom>
          <a:noFill/>
          <a:ln w="44450">
            <a:solidFill>
              <a:srgbClr val="F2A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3227832"/>
            <a:ext cx="512064" cy="-137160"/>
          </a:xfrm>
          <a:prstGeom prst="line">
            <a:avLst/>
          </a:prstGeom>
          <a:noFill/>
          <a:ln w="44450">
            <a:solidFill>
              <a:srgbClr val="F2A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834640"/>
            <a:ext cx="0" cy="2423160"/>
          </a:xfrm>
          <a:prstGeom prst="line">
            <a:avLst/>
          </a:prstGeom>
          <a:noFill/>
          <a:ln w="1778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406908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52544" y="537667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当前时刻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25296" y="537667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E1D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已观测结果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50992" y="537667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未来预测区间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67328" y="39684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E7E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尚未越界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77977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预测进入风险区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882128" y="192024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E9F4F5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6448" y="21579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19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数据来源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56448" y="24871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UCI 公开城市污水处理数据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82128" y="3154680"/>
            <a:ext cx="3657600" cy="1234440"/>
          </a:xfrm>
          <a:prstGeom prst="roundRect">
            <a:avLst>
              <a:gd name="adj" fmla="val 8889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34015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官网原始记录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802368" y="33101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527 条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18388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719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当前演示本地镜像：520 条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882128" y="4617720"/>
            <a:ext cx="3657600" cy="1188720"/>
          </a:xfrm>
          <a:prstGeom prst="roundRect">
            <a:avLst>
              <a:gd name="adj" fmla="val 9231"/>
            </a:avLst>
          </a:prstGeom>
          <a:solidFill>
            <a:srgbClr val="FFF6E8"/>
          </a:solidFill>
          <a:ln w="15240">
            <a:solidFill>
              <a:srgbClr val="F2C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4864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5E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重要边界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183880" y="5230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不是贵州企业或息烽园区数据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不代表真实工厂效果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1792" y="63367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520 与 527 的差异原因须由最终 manifest / 构建报告解释；当前不自行归因。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05 · 证据与交互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的判断必须能被追问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3504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结论、变量趋势、检查建议和人工决定在同一条事件链上</a:t>
            </a:r>
            <a:endParaRPr lang="en-US" sz="1800" dirty="0"/>
          </a:p>
        </p:txBody>
      </p:sp>
      <p:pic>
        <p:nvPicPr>
          <p:cNvPr id="5" name="Image 0" descr="/Users/rocalight/Desktop/All in one Data/01_PROJECTS/FDE任务/03_产品与解决方案/03_连续化工过程偏移副驾驶/90_构建与分析缓存/序安磷煤化工异常早期预警平台_黑客松路演_v13/assets/操作员AI追问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74520"/>
            <a:ext cx="690372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82128" y="187452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0B2D42"/>
          </a:solidFill>
          <a:ln w="15240">
            <a:solidFill>
              <a:srgbClr val="0B2D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56448" y="21488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操作员追问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56448" y="2487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“为什么这样判断？”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7973568" y="3127248"/>
            <a:ext cx="411480" cy="411480"/>
          </a:xfrm>
          <a:prstGeom prst="ellipse">
            <a:avLst/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73568" y="32049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77072" y="31821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引用当前事件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973568" y="3785616"/>
            <a:ext cx="411480" cy="411480"/>
          </a:xfrm>
          <a:prstGeom prst="ellipse">
            <a:avLst/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73568" y="38633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77072" y="38404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最多三项变量证据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973568" y="4443984"/>
            <a:ext cx="411480" cy="411480"/>
          </a:xfrm>
          <a:prstGeom prst="ellipse">
            <a:avLst/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73568" y="452170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77072" y="4498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给出优先检查项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973568" y="5102352"/>
            <a:ext cx="411480" cy="411480"/>
          </a:xfrm>
          <a:prstGeom prst="ellipse">
            <a:avLst/>
          </a:prstGeom>
          <a:solidFill>
            <a:srgbClr val="32A879"/>
          </a:solidFill>
          <a:ln w="12700">
            <a:solidFill>
              <a:srgbClr val="32A87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73568" y="518007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77072" y="51572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等待人工确认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21792" y="63367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截图为现有真实产品旅程。变量相关性只是排查线索，不等于已确认工艺原因。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06 · 连续过程验证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TEP：连续过程偏移如何被解释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3504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公开仿真数据 · 多变量偏移 · 故障候选 · 变量证据</a:t>
            </a:r>
            <a:endParaRPr lang="en-US" sz="1800" dirty="0"/>
          </a:p>
        </p:txBody>
      </p:sp>
      <p:pic>
        <p:nvPicPr>
          <p:cNvPr id="5" name="Image 0" descr="/Users/rocalight/Desktop/All in one Data/01_PROJECTS/FDE任务/03_产品与解决方案/03_连续化工过程偏移副驾驶/90_构建与分析缓存/序安磷煤化工异常早期预警平台_黑客松路演_v13/assets/TEP_偏移捕获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28800"/>
            <a:ext cx="5440680" cy="3429000"/>
          </a:xfrm>
          <a:prstGeom prst="rect">
            <a:avLst/>
          </a:prstGeom>
        </p:spPr>
      </p:pic>
      <p:pic>
        <p:nvPicPr>
          <p:cNvPr id="6" name="Image 1" descr="/Users/rocalight/Desktop/All in one Data/01_PROJECTS/FDE任务/03_产品与解决方案/03_连续化工过程偏移副驾驶/90_构建与分析缓存/序安磷煤化工异常早期预警平台_黑客松路演_v13/assets/TEP_AI证据解释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28800"/>
            <a:ext cx="5257800" cy="3429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194560" y="5440680"/>
            <a:ext cx="2331720" cy="347472"/>
          </a:xfrm>
          <a:prstGeom prst="roundRect">
            <a:avLst>
              <a:gd name="adj" fmla="val 31579"/>
            </a:avLst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67712" y="550468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偏移捕获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726680" y="5440680"/>
            <a:ext cx="2331720" cy="347472"/>
          </a:xfrm>
          <a:prstGeom prst="roundRect">
            <a:avLst>
              <a:gd name="adj" fmla="val 31579"/>
            </a:avLst>
          </a:prstGeom>
          <a:solidFill>
            <a:srgbClr val="E9F4F5"/>
          </a:solidFill>
          <a:ln w="12700">
            <a:solidFill>
              <a:srgbClr val="E9F4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99832" y="550468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AI 证据解释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" y="63367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数据来源：Tennessee Eastman Process 公开仿真。不是贵州企业或息烽园区数据，也不证明真实生产收益。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07 · 磷煤化工应用构想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从一个预测目标开始，不做大而全平台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3504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园区公开资料用于理解问题；PoC 必须在正式授权后重新定义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01568" cy="2240280"/>
          </a:xfrm>
          <a:prstGeom prst="roundRect">
            <a:avLst>
              <a:gd name="adj" fmla="val 4898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2677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19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50976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关键质量预测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50976" y="331012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9435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选一个离线化验目标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9435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建立软测量与风险窗口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43984" y="1965960"/>
            <a:ext cx="3401568" cy="2240280"/>
          </a:xfrm>
          <a:prstGeom prst="roundRect">
            <a:avLst>
              <a:gd name="adj" fmla="val 4898"/>
            </a:avLst>
          </a:prstGeom>
          <a:solidFill>
            <a:srgbClr val="E9F4F5"/>
          </a:solidFill>
          <a:ln w="15240">
            <a:solidFill>
              <a:srgbClr val="25C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22677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36592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异常早期预警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736592" y="331012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9435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对齐 DCS 变量与滞后结果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9435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先做影子验证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401568" cy="2240280"/>
          </a:xfrm>
          <a:prstGeom prst="roundRect">
            <a:avLst>
              <a:gd name="adj" fmla="val 4898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22677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7196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22208" y="2743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过程偏移研判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522208" y="331012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9435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形成事件、候选、证据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9435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支持交接与复盘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" y="4590288"/>
            <a:ext cx="10972800" cy="1216152"/>
          </a:xfrm>
          <a:prstGeom prst="roundRect">
            <a:avLst>
              <a:gd name="adj" fmla="val 9023"/>
            </a:avLst>
          </a:prstGeom>
          <a:solidFill>
            <a:srgbClr val="FFF7EA"/>
          </a:solidFill>
          <a:ln w="15240">
            <a:solidFill>
              <a:srgbClr val="F0C7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828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5E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产业写作参考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743200" y="4782312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贵州省大数据发展管理局公开的“1468”装置磷化工能耗优化大模型案例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743200" y="5266944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9435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仅作产业方向与写作参考；无合作关系，未使用其生产数据，公开成效不属于序安。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" y="63367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官方来源：https://dsj.guizhou.gov.cn/ztzl/rdzt/jdal/202601/t20260120_89316875.html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5C7CC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08 · 安全边界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当前只读；未来写回也必须逐道过闸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03504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把“已经实现”和“路线图”明确分开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1938528"/>
            <a:ext cx="3657600" cy="3611880"/>
          </a:xfrm>
          <a:prstGeom prst="roundRect">
            <a:avLst>
              <a:gd name="adj" fmla="val 3038"/>
            </a:avLst>
          </a:prstGeom>
          <a:solidFill>
            <a:srgbClr val="0B2D42"/>
          </a:solidFill>
          <a:ln w="15240">
            <a:solidFill>
              <a:srgbClr val="0B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286000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35000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当前 Demo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907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只读 / 影子建议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78992" y="3611880"/>
            <a:ext cx="23774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4EBE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读取数据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EBE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预测风险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EBE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整理证据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EBE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人工确认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D4EBE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审计留痕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999232" y="409651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不自动写回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PLC / DCS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99432" y="1938528"/>
            <a:ext cx="6940296" cy="3611880"/>
          </a:xfrm>
          <a:prstGeom prst="roundRect">
            <a:avLst>
              <a:gd name="adj" fmla="val 3038"/>
            </a:avLst>
          </a:prstGeom>
          <a:solidFill>
            <a:srgbClr val="F5F9FA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56048" y="2286000"/>
            <a:ext cx="1737360" cy="347472"/>
          </a:xfrm>
          <a:prstGeom prst="roundRect">
            <a:avLst>
              <a:gd name="adj" fmla="val 31579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350008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未来路线图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56048" y="2999232"/>
            <a:ext cx="135331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20954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人工审批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28816" y="2999232"/>
            <a:ext cx="135331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320954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权限校验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01584" y="2999232"/>
            <a:ext cx="135331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736" y="320954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工艺上下限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674352" y="2999232"/>
            <a:ext cx="135331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47504" y="320954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联锁校验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956048" y="3986784"/>
            <a:ext cx="135331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419709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控制网关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528816" y="3986784"/>
            <a:ext cx="135331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B9D3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419709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执行回读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101584" y="3986784"/>
            <a:ext cx="1353312" cy="658368"/>
          </a:xfrm>
          <a:prstGeom prst="roundRect">
            <a:avLst>
              <a:gd name="adj" fmla="val 16667"/>
            </a:avLst>
          </a:prstGeom>
          <a:solidFill>
            <a:srgbClr val="E9F4F5"/>
          </a:solidFill>
          <a:ln w="15240">
            <a:solidFill>
              <a:srgbClr val="25C7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74736" y="4197096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93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审计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983480" y="507492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5B55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任何一步失败，都不能显示为执行成功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21792" y="633679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A89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未来受控写回仅为路线图，不是当前功能或现场承诺。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607A89"/>
                </a:solidFill>
                <a:latin typeface="Source Han Sans SC"/>
                <a:ea typeface="Source Han Sans SC"/>
                <a:cs typeface="Source Han Sans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calight/Desktop/All in one Data/01_PROJECTS/FDE任务/03_产品与解决方案/03_连续化工过程偏移副驾驶/apps/web/public/brand/xuanan-anomaly-intercept-v04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548640"/>
            <a:ext cx="749808" cy="7498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2768" y="6309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 · 磷煤化工异常早期预警平台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85800" y="16002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一套装置 · 一个目标 · 一条只读数据链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1170432" y="2743200"/>
            <a:ext cx="777240" cy="777240"/>
          </a:xfrm>
          <a:prstGeom prst="ellipse">
            <a:avLst/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70432" y="29900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" y="37673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公开资料对齐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011680" y="3127248"/>
            <a:ext cx="493776" cy="0"/>
          </a:xfrm>
          <a:prstGeom prst="line">
            <a:avLst/>
          </a:prstGeom>
          <a:noFill/>
          <a:ln w="25400">
            <a:solidFill>
              <a:srgbClr val="64E1DF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072384" y="2743200"/>
            <a:ext cx="777240" cy="777240"/>
          </a:xfrm>
          <a:prstGeom prst="ellipse">
            <a:avLst/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72384" y="29900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560320" y="37673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正式授权调研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913632" y="3127248"/>
            <a:ext cx="493776" cy="0"/>
          </a:xfrm>
          <a:prstGeom prst="line">
            <a:avLst/>
          </a:prstGeom>
          <a:noFill/>
          <a:ln w="25400">
            <a:solidFill>
              <a:srgbClr val="64E1DF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974336" y="2743200"/>
            <a:ext cx="777240" cy="777240"/>
          </a:xfrm>
          <a:prstGeom prst="ellipse">
            <a:avLst/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74336" y="29900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62272" y="37673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明确预测目标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815584" y="3127248"/>
            <a:ext cx="493776" cy="0"/>
          </a:xfrm>
          <a:prstGeom prst="line">
            <a:avLst/>
          </a:prstGeom>
          <a:noFill/>
          <a:ln w="25400">
            <a:solidFill>
              <a:srgbClr val="64E1DF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76288" y="2743200"/>
            <a:ext cx="777240" cy="777240"/>
          </a:xfrm>
          <a:prstGeom prst="ellipse">
            <a:avLst/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76288" y="29900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64224" y="37673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只读数据核验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717536" y="3127248"/>
            <a:ext cx="493776" cy="0"/>
          </a:xfrm>
          <a:prstGeom prst="line">
            <a:avLst/>
          </a:prstGeom>
          <a:noFill/>
          <a:ln w="25400">
            <a:solidFill>
              <a:srgbClr val="64E1DF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778240" y="2743200"/>
            <a:ext cx="777240" cy="777240"/>
          </a:xfrm>
          <a:prstGeom prst="ellipse">
            <a:avLst/>
          </a:prstGeom>
          <a:solidFill>
            <a:srgbClr val="25C7CC"/>
          </a:solidFill>
          <a:ln w="12700">
            <a:solidFill>
              <a:srgbClr val="25C7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0" y="29900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266176" y="37673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影子运行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9619488" y="3127248"/>
            <a:ext cx="493776" cy="0"/>
          </a:xfrm>
          <a:prstGeom prst="line">
            <a:avLst/>
          </a:prstGeom>
          <a:noFill/>
          <a:ln w="25400">
            <a:solidFill>
              <a:srgbClr val="64E1DF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0680192" y="2743200"/>
            <a:ext cx="777240" cy="777240"/>
          </a:xfrm>
          <a:prstGeom prst="ellipse">
            <a:avLst/>
          </a:prstGeom>
          <a:solidFill>
            <a:srgbClr val="32A879"/>
          </a:solidFill>
          <a:ln w="12700">
            <a:solidFill>
              <a:srgbClr val="32A87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80192" y="29900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E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168128" y="37673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人工复核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60120" y="4892040"/>
            <a:ext cx="10259568" cy="868680"/>
          </a:xfrm>
          <a:prstGeom prst="roundRect">
            <a:avLst>
              <a:gd name="adj" fmla="val 8421"/>
            </a:avLst>
          </a:prstGeom>
          <a:solidFill>
            <a:srgbClr val="0B2D42"/>
          </a:solidFill>
          <a:ln w="17780">
            <a:solidFill>
              <a:srgbClr val="25C7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98448" y="517550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今天展示的是公开资料基础上的应用构想，不代表合作已经发生。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96596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DDE2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序安先把证据和责任链做扎实，再讨论控制。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Wuno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序安·磷煤化工异常早期预警平台</dc:title>
  <dc:subject>序安·磷煤化工异常早期预警平台黑客松路演</dc:subject>
  <dc:creator>Wuno FDE</dc:creator>
  <cp:lastModifiedBy>Wuno FDE</cp:lastModifiedBy>
  <cp:revision>1</cp:revision>
  <dcterms:created xsi:type="dcterms:W3CDTF">2026-08-29T16:05:18Z</dcterms:created>
  <dcterms:modified xsi:type="dcterms:W3CDTF">2026-08-29T16:05:18Z</dcterms:modified>
</cp:coreProperties>
</file>