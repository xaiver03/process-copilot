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de0beb1b32485a" /><Relationship Type="http://schemas.openxmlformats.org/officeDocument/2006/relationships/extended-properties" Target="/docProps/app.xml" Id="R7a0c469877364dc6" /><Relationship Type="http://schemas.openxmlformats.org/officeDocument/2006/relationships/officeDocument" Target="/ppt/presentation.xml" Id="R013a4264b9b648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ee8b16a0d448ec"/>
  </p:sldMasterIdLst>
  <p:notesMasterIdLst>
    <p:notesMasterId xmlns:r="http://schemas.openxmlformats.org/officeDocument/2006/relationships" r:id="Rc0e14f8a48e34840"/>
  </p:notesMasterIdLst>
  <p:sldIdLst>
    <p:sldId xmlns:r="http://schemas.openxmlformats.org/officeDocument/2006/relationships" id="256" r:id="R7e60f2c4f8e34761"/>
    <p:sldId xmlns:r="http://schemas.openxmlformats.org/officeDocument/2006/relationships" id="257" r:id="Rcfacfdc4c97e4050"/>
    <p:sldId xmlns:r="http://schemas.openxmlformats.org/officeDocument/2006/relationships" id="258" r:id="Rfe9ca1e107e54575"/>
    <p:sldId xmlns:r="http://schemas.openxmlformats.org/officeDocument/2006/relationships" id="259" r:id="Rc0afad36d35f4cae"/>
    <p:sldId xmlns:r="http://schemas.openxmlformats.org/officeDocument/2006/relationships" id="260" r:id="R8111b19ada9047c0"/>
    <p:sldId xmlns:r="http://schemas.openxmlformats.org/officeDocument/2006/relationships" id="261" r:id="R0746c508b2314f13"/>
    <p:sldId xmlns:r="http://schemas.openxmlformats.org/officeDocument/2006/relationships" id="262" r:id="R746fcc71f4994436"/>
    <p:sldId xmlns:r="http://schemas.openxmlformats.org/officeDocument/2006/relationships" id="263" r:id="R59a86daf96e24fd2"/>
    <p:sldId xmlns:r="http://schemas.openxmlformats.org/officeDocument/2006/relationships" id="264" r:id="R02c76a9abc71480c"/>
    <p:sldId xmlns:r="http://schemas.openxmlformats.org/officeDocument/2006/relationships" id="265" r:id="Reccc3f1602d04f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93fadff6b34ae6" /><Relationship Type="http://schemas.openxmlformats.org/officeDocument/2006/relationships/slideMaster" Target="/ppt/slideMasters/slideMaster1.xml" Id="Re2ee8b16a0d448ec" /><Relationship Type="http://schemas.openxmlformats.org/officeDocument/2006/relationships/notesMaster" Target="/ppt/notesMasters/notesMaster1.xml" Id="Rc0e14f8a48e34840" /><Relationship Type="http://schemas.openxmlformats.org/officeDocument/2006/relationships/presProps" Target="/ppt/presProps.xml" Id="Rd61abedf73f74b4f" /><Relationship Type="http://schemas.openxmlformats.org/officeDocument/2006/relationships/tableStyles" Target="/ppt/tableStyles.xml" Id="R1f8151772e8c4a55" /><Relationship Type="http://schemas.openxmlformats.org/officeDocument/2006/relationships/slide" Target="/ppt/slides/slide1.xml" Id="R7e60f2c4f8e34761" /><Relationship Type="http://schemas.openxmlformats.org/officeDocument/2006/relationships/slide" Target="/ppt/slides/slide2.xml" Id="Rcfacfdc4c97e4050" /><Relationship Type="http://schemas.openxmlformats.org/officeDocument/2006/relationships/slide" Target="/ppt/slides/slide3.xml" Id="Rfe9ca1e107e54575" /><Relationship Type="http://schemas.openxmlformats.org/officeDocument/2006/relationships/slide" Target="/ppt/slides/slide4.xml" Id="Rc0afad36d35f4cae" /><Relationship Type="http://schemas.openxmlformats.org/officeDocument/2006/relationships/slide" Target="/ppt/slides/slide5.xml" Id="R8111b19ada9047c0" /><Relationship Type="http://schemas.openxmlformats.org/officeDocument/2006/relationships/slide" Target="/ppt/slides/slide6.xml" Id="R0746c508b2314f13" /><Relationship Type="http://schemas.openxmlformats.org/officeDocument/2006/relationships/slide" Target="/ppt/slides/slide7.xml" Id="R746fcc71f4994436" /><Relationship Type="http://schemas.openxmlformats.org/officeDocument/2006/relationships/slide" Target="/ppt/slides/slide8.xml" Id="R59a86daf96e24fd2" /><Relationship Type="http://schemas.openxmlformats.org/officeDocument/2006/relationships/slide" Target="/ppt/slides/slide9.xml" Id="R02c76a9abc71480c" /><Relationship Type="http://schemas.openxmlformats.org/officeDocument/2006/relationships/slide" Target="/ppt/slides/slide10.xml" Id="Reccc3f1602d04f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514212eff646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d3fe5d07d44f9f" /><Relationship Type="http://schemas.openxmlformats.org/officeDocument/2006/relationships/notesMaster" Target="/ppt/notesMasters/notesMaster1.xml" Id="R81020d685aa649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51b2d1bdb241da" /><Relationship Type="http://schemas.openxmlformats.org/officeDocument/2006/relationships/notesMaster" Target="/ppt/notesMasters/notesMaster1.xml" Id="R9e513a86402245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52e4d06f1e4e98" /><Relationship Type="http://schemas.openxmlformats.org/officeDocument/2006/relationships/notesMaster" Target="/ppt/notesMasters/notesMaster1.xml" Id="R855e1cba9b7c42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884cc22b8641d8" /><Relationship Type="http://schemas.openxmlformats.org/officeDocument/2006/relationships/notesMaster" Target="/ppt/notesMasters/notesMaster1.xml" Id="R26f737c9d2734a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6abcaf686e4547" /><Relationship Type="http://schemas.openxmlformats.org/officeDocument/2006/relationships/notesMaster" Target="/ppt/notesMasters/notesMaster1.xml" Id="Rcd5d99e33db84d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6085e2085342a2" /><Relationship Type="http://schemas.openxmlformats.org/officeDocument/2006/relationships/notesMaster" Target="/ppt/notesMasters/notesMaster1.xml" Id="R96d0549a05564f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aa9dea084e429c" /><Relationship Type="http://schemas.openxmlformats.org/officeDocument/2006/relationships/notesMaster" Target="/ppt/notesMasters/notesMaster1.xml" Id="R3143a19e00cb4e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52a900a98c4b9e" /><Relationship Type="http://schemas.openxmlformats.org/officeDocument/2006/relationships/notesMaster" Target="/ppt/notesMasters/notesMaster1.xml" Id="R18fb451179d340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a8fcc67ce54d39" /><Relationship Type="http://schemas.openxmlformats.org/officeDocument/2006/relationships/notesMaster" Target="/ppt/notesMasters/notesMaster1.xml" Id="R789d01efe8c145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4b9080c80f4a86" /><Relationship Type="http://schemas.openxmlformats.org/officeDocument/2006/relationships/notesMaster" Target="/ppt/notesMasters/notesMaster1.xml" Id="Raeabe08409e141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内部事实源：README.md；docs/submission/作品说明_v01_DRAFT.md</a:t>
            </a:r>
          </a:p>
          <a:p xmlns:a="http://schemas.openxmlformats.org/drawingml/2006/main">
            <a:r>
              <a:t>- 视觉资产：Wuno 设计系统 / WUWEI_Wuno_蓝色球形主视觉.png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TEP 变量构成：docs/submission/数据说明_v01_DRAFT.md</a:t>
            </a:r>
          </a:p>
          <a:p xmlns:a="http://schemas.openxmlformats.org/drawingml/2006/main">
            <a:r>
              <a:t>- 现场研判问题定义：docs/submission/作品说明_v01_DRAFT.md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检测与热力格：docs/submission/作品说明_v01_DRAFT.md</a:t>
            </a:r>
          </a:p>
          <a:p xmlns:a="http://schemas.openxmlformats.org/drawingml/2006/main">
            <a:r>
              <a:t>- 在线 PCA 不变量：services/ml/README.md</a:t>
            </a:r>
          </a:p>
          <a:p xmlns:a="http://schemas.openxmlformats.org/drawingml/2006/main">
            <a:r>
              <a:t>- 产品截图：90_构建与分析缓存/序安黑客松路演_v01/assets/process-replay.png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两阶段时间轴、20 样本窗口与建议边界：docs/submission/作品说明_v01_DRAFT.md；docs/submission/三分钟Demo脚本_v01_DRAFT.md</a:t>
            </a:r>
          </a:p>
          <a:p xmlns:a="http://schemas.openxmlformats.org/drawingml/2006/main">
            <a:r>
              <a:t>- 产品截图：90_构建与分析缓存/序安黑客松路演_v01/assets/event-analysis.png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人机确认与审计链路：README.md；docs/submission/作品说明_v01_DRAFT.md</a:t>
            </a:r>
          </a:p>
          <a:p xmlns:a="http://schemas.openxmlformats.org/drawingml/2006/main">
            <a:r>
              <a:t>- 边界说明：当前产品不具备自由对话式现场控制，也不自动写回控制系统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贵州省大数据发展管理局，2026-01-20：https://dsj.guizhou.gov.cn/ztzl/rdzt/jdal/202601/t20260120_89316875.html</a:t>
            </a:r>
          </a:p>
          <a:p xmlns:a="http://schemas.openxmlformats.org/drawingml/2006/main">
            <a:r>
              <a:t>- 官方案例公开口径：预测、APC、RTO、边缘控制；相关装置能耗降低 2% 以上、操作频次下降 70% 以上、稳定性提升 30% 以上</a:t>
            </a:r>
          </a:p>
          <a:p xmlns:a="http://schemas.openxmlformats.org/drawingml/2006/main">
            <a:r>
              <a:t>- 边界：该案例仅作产业参照；序安与贵州磷化集团无已知合作或真实数据关系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TEP 上游：https://github.com/camaramm/tennessee-eastman-profBraatz</a:t>
            </a:r>
          </a:p>
          <a:p xmlns:a="http://schemas.openxmlformats.org/drawingml/2006/main">
            <a:r>
              <a:t>- 数据 hash、变量、窗口与冻结场景：docs/submission/数据说明_v01_DRAFT.md</a:t>
            </a:r>
          </a:p>
          <a:p xmlns:a="http://schemas.openxmlformats.org/drawingml/2006/main">
            <a:r>
              <a:t>- 测试与部署：README.md；docs/deployment.md；build/qa/playwright_截图与响应式验收.json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三分钟路径与兜底：docs/submission/三分钟Demo脚本_v01_DRAFT.md</a:t>
            </a:r>
          </a:p>
          <a:p xmlns:a="http://schemas.openxmlformats.org/drawingml/2006/main">
            <a:r>
              <a:t>- 部署入口与 E2E：README.md；docs/deployment.md</a:t>
            </a:r>
          </a:p>
          <a:p xmlns:a="http://schemas.openxmlformats.org/drawingml/2006/main">
            <a:r>
              <a:t>- 产品截图：90_构建与分析缓存/序安黑客松路演_v01/assets/audit-record.png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PoC 路径：docs/submission/作品说明_v01_DRAFT.md；README.md</a:t>
            </a:r>
          </a:p>
          <a:p xmlns:a="http://schemas.openxmlformats.org/drawingml/2006/main">
            <a:r>
              <a:t>- 部署、备份与回滚：docs/deployment.md</a:t>
            </a:r>
          </a:p>
          <a:p xmlns:a="http://schemas.openxmlformats.org/drawingml/2006/main">
            <a:r>
              <a:t>- 影子模式期间的真实指标必须由现场数据重新定义，不能由 TEP Demo 外推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行动建议基于内部 PoC 路径：docs/submission/作品说明_v01_DRAFT.md</a:t>
            </a:r>
          </a:p>
          <a:p xmlns:a="http://schemas.openxmlformats.org/drawingml/2006/main">
            <a:r>
              <a:t>- 视觉资产：Wuno 设计系统 / WUWEI_Wuno_蓝色球形主视觉.png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246675b59148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6ad2eddb754cb1" /><Relationship Type="http://schemas.openxmlformats.org/officeDocument/2006/relationships/slideLayout" Target="/ppt/slideLayouts/slideLayout1.xml" Id="R89cba556657c41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cba556657c41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7113e6a0c4b06" /><Relationship Type="http://schemas.openxmlformats.org/officeDocument/2006/relationships/image" Target="/ppt/media/image.png" Id="Rd5656e08fde14aac" /><Relationship Type="http://schemas.openxmlformats.org/officeDocument/2006/relationships/notesSlide" Target="/ppt/notesSlides/notesSlide1.xml" Id="Rc41272f0a2a844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a831f0f32404a" /><Relationship Type="http://schemas.openxmlformats.org/officeDocument/2006/relationships/notesSlide" Target="/ppt/notesSlides/notesSlide2.xml" Id="Rfc3934c4bc4e4f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b3dc9b6764b85" /><Relationship Type="http://schemas.openxmlformats.org/officeDocument/2006/relationships/image" Target="/ppt/media/image2.png" Id="R21affde1157c42d4" /><Relationship Type="http://schemas.openxmlformats.org/officeDocument/2006/relationships/notesSlide" Target="/ppt/notesSlides/notesSlide3.xml" Id="Rd5610768b2c64c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232bb30df4805" /><Relationship Type="http://schemas.openxmlformats.org/officeDocument/2006/relationships/image" Target="/ppt/media/image3.png" Id="R58ef0631bcc44ca4" /><Relationship Type="http://schemas.openxmlformats.org/officeDocument/2006/relationships/notesSlide" Target="/ppt/notesSlides/notesSlide4.xml" Id="R1b8d295e157a4f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f781a6e8948a6" /><Relationship Type="http://schemas.openxmlformats.org/officeDocument/2006/relationships/notesSlide" Target="/ppt/notesSlides/notesSlide5.xml" Id="Rb931b8e49e2e4f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f8770d2314b17" /><Relationship Type="http://schemas.openxmlformats.org/officeDocument/2006/relationships/notesSlide" Target="/ppt/notesSlides/notesSlide6.xml" Id="Recd5831e251448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8fd8f54654755" /><Relationship Type="http://schemas.openxmlformats.org/officeDocument/2006/relationships/notesSlide" Target="/ppt/notesSlides/notesSlide7.xml" Id="Rc958a31892854f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a0e4c484e42a3" /><Relationship Type="http://schemas.openxmlformats.org/officeDocument/2006/relationships/image" Target="/ppt/media/image4.png" Id="Ref5c23dc2ef74e2d" /><Relationship Type="http://schemas.openxmlformats.org/officeDocument/2006/relationships/notesSlide" Target="/ppt/notesSlides/notesSlide8.xml" Id="Rd3030ce2104643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f4c456adb4b22" /><Relationship Type="http://schemas.openxmlformats.org/officeDocument/2006/relationships/notesSlide" Target="/ppt/notesSlides/notesSlide9.xml" Id="Rdb79afc07f2541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a807985a34ba1" /><Relationship Type="http://schemas.openxmlformats.org/officeDocument/2006/relationships/image" Target="/ppt/media/image5.png" Id="R350b6a469cee42a8" /><Relationship Type="http://schemas.openxmlformats.org/officeDocument/2006/relationships/notesSlide" Target="/ppt/notesSlides/notesSlide10.xml" Id="Rcac7c945a5c742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28E8A-D1E5-4A20-9F66-D6598394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530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B36"/>
          </a:solidFill>
          <a:ln xmlns:a="http://schemas.openxmlformats.org/drawingml/2006/main" w="9525">
            <a:solidFill>
              <a:srgbClr val="18345E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56e08fde14aac"/>
          <a:stretch xmlns:a="http://schemas.openxmlformats.org/drawingml/2006/main"/>
        </p:blipFill>
        <p:spPr>
          <a:xfrm xmlns:a="http://schemas.openxmlformats.org/drawingml/2006/main">
            <a:off x="7858125" y="747745"/>
            <a:ext cx="3238500" cy="288601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EDE70-CE30-44DA-8E56-DE1A7430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序安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E4BC4-6927-4843-9FBE-11CC4A43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C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8FCFFF"/>
                </a:solidFill>
                <a:latin typeface="Courier New"/>
                <a:ea typeface="Courier New"/>
                <a:cs typeface="Courier New"/>
              </a:rPr>
              <a:t>PROCESS SENTINEL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0DF30-3E2F-4825-BAEE-90D48B28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647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43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事故之前，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43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过程先偏了一点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13A17-EA2D-4179-9A1D-B9621ABE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rPr>
              <a:t>连续化工过程偏移副驾驶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AA34B-16CF-45E5-AD6C-DF9D701F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D6D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1">
                <a:solidFill>
                  <a:srgbClr val="58D6D6"/>
                </a:solidFill>
                <a:latin typeface="Source Han Sans SC"/>
                <a:ea typeface="Source Han Sans SC"/>
                <a:cs typeface="Source Han Sans SC"/>
              </a:rPr>
              <a:t>先发现偏移 · 再交付证据 · 最后由人确认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B3375-FA83-413A-9199-AA989EC5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891B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7891B4"/>
                </a:solidFill>
                <a:latin typeface="Courier New"/>
                <a:ea typeface="Courier New"/>
                <a:cs typeface="Courier New"/>
              </a:rPr>
              <a:t>黑客松路演 · 2026.08 · REVIEW</a:t>
            </a:r>
          </a:p>
        </p:txBody>
      </p:sp>
    </p:spTree>
    <p:extLst>
      <p:ext uri="{BB962C8B-B14F-4D97-AF65-F5344CB8AC3E}">
        <p14:creationId xmlns:p14="http://schemas.microsoft.com/office/powerpoint/2010/main" val="873246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B24142-645D-4D07-9872-4AE28DD1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D5A87-2629-42DA-B6FC-4D305B04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3C37C-CCC0-4CB8-A2D8-9D89B1B5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E5881-24A0-4184-AEF5-7ACF163F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6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现场堵点不是没有报警，而是 52 路变量同时在说不同的话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0AE21-DBAB-4BB4-A6CA-70F2C329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单点红灯无法替工程师完成一次跨变量、跨时间、可追溯的判断。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97299-3857-4226-9042-42AE31AA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238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675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52D33-297F-435B-883A-BD4AEEF5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2333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路过程变量</a:t>
            </a:r>
          </a:p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41 测量 + 11 操纵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BBDE2-842B-42EC-BB19-DBA24118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进料组成、流量、压力、温度和阀位可能同时变化。异常不是一盏灯，而是一段关系正在失稳。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2AC95-0D74-4A63-BE44-106235FA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431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E2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0446E-4CF1-4899-A69E-E938EC3D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955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A93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2A93B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EAB13-7F7B-457B-9D28-E546E245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050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是不是真偏了？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D3016-E300-4B0A-9DC4-B292E928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050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区分持续偏移与短时噪声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3A0CF-BE1E-410F-BA09-B8B242A6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432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8407D-0998-4742-98E1-243834B4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956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4FAAE-E72F-4975-9575-AB1E2E5B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051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先看哪三个变量？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63DB3-0354-4CEE-8F1E-80C0F764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0517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把 52 路信号压缩成证据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635CB-78F0-4D75-8239-6DC1EF24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43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01F0C-9709-427C-880E-9C2EA763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95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8B7B5C-8330-4516-AD65-0F68F9AC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05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下一步先查什么？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171C09-918E-4E26-91D8-FA66802B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3053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给出可执行的检查顺序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E58470-2FA3-4095-AFA2-0CC82889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9434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A46133-2553-4FB5-9C82-6A8D256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958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6CAD6A-BD63-46E6-AE49-BA116447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053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谁确认过？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B609DA-5113-41F1-B6C6-ECA45271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30542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交班、复盘与审计可追溯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50C1C9-57FF-4274-A9E6-EBFBA09A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52650"/>
            <a:ext cx="2266950" cy="2609850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B1B36"/>
          </a:solidFill>
          <a:ln xmlns:a="http://schemas.openxmlformats.org/drawingml/2006/main" w="9525">
            <a:solidFill>
              <a:srgbClr val="17335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4EEBAF-31E2-4F5D-96B8-9664EFBA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异常前的十分钟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C7B39D-74A7-495F-B3AF-91025E89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00375"/>
            <a:ext cx="1809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rPr>
              <a:t>报警还没替你解释</a:t>
            </a:r>
          </a:p>
          <a:p xmlns:a="http://schemas.openxmlformats.org/drawingml/2006/main">
            <a:pPr algn="l">
              <a:defRPr sz="135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rPr>
              <a:t>变量关系已经变了</a:t>
            </a:r>
          </a:p>
          <a:p xmlns:a="http://schemas.openxmlformats.org/drawingml/2006/main">
            <a:pPr algn="l">
              <a:defRPr sz="135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rPr>
              <a:t>交班记录仍是空白</a:t>
            </a:r>
          </a:p>
        </p:txBody>
      </p:sp>
    </p:spTree>
    <p:extLst>
      <p:ext uri="{BB962C8B-B14F-4D97-AF65-F5344CB8AC3E}">
        <p14:creationId xmlns:p14="http://schemas.microsoft.com/office/powerpoint/2010/main" val="1630673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4BB65-C0A9-429C-A8E4-53A086CE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D1709-AF07-4166-9DDD-4BB62976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EE335-6B1F-4215-9237-581C217E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88131-0E9A-4799-A49B-C96EB156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在事故形成前，把持续偏移从噪声里拎出来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0A4F1-B561-44B3-94DD-78D3C818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序安先回答“过程是否偏离正常基线”，再让工程师展开原始变量。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B6B2A-8E8E-4E76-8222-A4B75593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T² + Q/SPE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E2D1F-4D39-4CB6-8A7C-CE9B6EC3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连续越界形成事件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114C9-0BA1-4346-8723-8C435508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42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不是单点越线就报警。事件需要持续性证据；坏数据不会送入 PCA，也不会开启工艺异常事件。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99DC9-EC42-4EA9-86A1-9F6653F8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342900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CD318-DF4A-4C1F-85DD-E21093CC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52 路热力格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236CF7-3BBF-4A7A-8529-4231C38D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先看异常集中在哪一组，再展开原始值与时间窗。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7D05A-F5C1-4526-A358-3E946AEB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0"/>
            <a:ext cx="7086600" cy="4095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ffde1157c42d4"/>
          <a:srcRect xmlns:a="http://schemas.openxmlformats.org/drawingml/2006/main" l="0" t="5281" r="0" b="52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29150" y="2057400"/>
            <a:ext cx="6781800" cy="3790950"/>
          </a:xfrm>
          <a:prstGeom xmlns:a="http://schemas.openxmlformats.org/drawingml/2006/main" prst="roundRect">
            <a:avLst>
              <a:gd name="adj" fmla="val 3518"/>
            </a:avLst>
          </a:prstGeom>
        </p:spPr>
      </p:pic>
    </p:spTree>
    <p:extLst>
      <p:ext uri="{BB962C8B-B14F-4D97-AF65-F5344CB8AC3E}">
        <p14:creationId xmlns:p14="http://schemas.microsoft.com/office/powerpoint/2010/main" val="4541784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08219-2F38-4A49-B4D9-93824FB0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9AD71-B579-4641-9577-CBB57419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8A429-B608-41B9-9A0A-476B2B67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0574D-7994-4985-9122-3B4CC130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AI 不只给结论，还给候选、Top-3 变量和检查顺序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DB5B3-5CF4-4452-875E-F06C7B86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每个判断都能回到事件时间、变量贡献和下一步动作。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4F834-9357-4477-8240-B6B76DCA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6667500" cy="4019550"/>
          </a:xfrm>
          <a:prstGeom xmlns:a="http://schemas.openxmlformats.org/drawingml/2006/main" prst="roundRect">
            <a:avLst>
              <a:gd name="adj" fmla="val 4739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f0631bcc44ca4"/>
          <a:srcRect xmlns:a="http://schemas.openxmlformats.org/drawingml/2006/main" l="0" t="3095" r="0" b="30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057400"/>
            <a:ext cx="6400800" cy="3752850"/>
          </a:xfrm>
          <a:prstGeom xmlns:a="http://schemas.openxmlformats.org/drawingml/2006/main" prst="roundRect">
            <a:avLst>
              <a:gd name="adj" fmla="val 355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51592-09ED-4A08-93A2-6A8E18FB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DC9D4-DC78-4646-B65A-C37D90F4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候选故障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6FF22-4748-4A23-9AFE-6AE99D1F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排序告诉工程师先验证什么，不代替最终诊断。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D74F9-C275-4390-8EA8-38CEC334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A875F-4B40-41F0-BBFC-13399A00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05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Top-3 变量证据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F8809-4E3A-47EA-86AB-A4A5D321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SPE 贡献 + 共享横轴，解释偏移集中在哪。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3C74E-76D0-40D2-8824-29F3ADA6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3BC97-2061-4413-85F4-4A533753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672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固定检查顺序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E5D29-597A-42DD-89DA-798D8814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86300"/>
            <a:ext cx="352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没有大模型密钥也能运行；大模型只改写表达，不参与阈值或控制决策。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56F7A-3BA1-4D51-91A0-24772D23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81650"/>
            <a:ext cx="3429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5E2"/>
          </a:solidFill>
          <a:ln xmlns:a="http://schemas.openxmlformats.org/drawingml/2006/main" w="9525">
            <a:solidFill>
              <a:srgbClr val="F6D89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EAB11-DEDF-4538-8AE1-575D1868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715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5D1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25" b="1">
                <a:solidFill>
                  <a:srgbClr val="8B5D14"/>
                </a:solidFill>
                <a:latin typeface="Source Han Sans SC"/>
                <a:ea typeface="Source Han Sans SC"/>
                <a:cs typeface="Source Han Sans SC"/>
              </a:rPr>
              <a:t>20 个样本 / 60 分钟后刷新；已更新 ≠ 已确认</a:t>
            </a:r>
          </a:p>
        </p:txBody>
      </p:sp>
    </p:spTree>
    <p:extLst>
      <p:ext uri="{BB962C8B-B14F-4D97-AF65-F5344CB8AC3E}">
        <p14:creationId xmlns:p14="http://schemas.microsoft.com/office/powerpoint/2010/main" val="1205913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B1ECDD-DCAA-43A7-88B6-C8F5EFB8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1D104-99B1-4546-8996-BF8419BE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93559-8212-4264-B2FA-62F79A56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AC05D-7245-4F84-AC17-F2098080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主动交互不是聊天，而是推动一次可追溯的人机确认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40897-EB10-477F-83FB-BD227640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系统围绕事件主动组织证据；工程师保留判断权和接管权。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B8573-816B-4A21-9418-2F5736C2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19500"/>
            <a:ext cx="800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7C6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BA716-E73F-409E-84F1-9557C9D8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48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5AF6D-376D-40A9-B380-6E8E7ED3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48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0B793-15C9-44DD-8C09-E7E33B56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48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02BBD-D1C9-485D-9128-DF0089C6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55974-FCAF-4C6F-BD02-5C65F0B8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FF021-D83B-49ED-B4D3-AAC0DBFC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事件出现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23517-3BAF-4352-966A-83318690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锁定时间窗</a:t>
            </a:r>
          </a:p>
          <a:p xmlns:a="http://schemas.openxmlformats.org/drawingml/2006/main">
            <a:pPr algn="ctr"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标记风险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57CCC-221F-404D-9865-3288FF6F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479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8F1CD1-20F0-45C8-B044-10569971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90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系统提证据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96C36-3282-4CA4-8407-445E3A89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195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候选故障</a:t>
            </a:r>
          </a:p>
          <a:p xmlns:a="http://schemas.openxmlformats.org/drawingml/2006/main">
            <a:pPr algn="ctr"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Top-3 变量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4FCB2-AF35-4888-AE91-A044B3C2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479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91939F-5C9E-4127-9C0D-2E4F942D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90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系统提动作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DBB6B8-E9B9-4279-870F-75AE18DA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195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检查顺序</a:t>
            </a:r>
          </a:p>
          <a:p xmlns:a="http://schemas.openxmlformats.org/drawingml/2006/main">
            <a:pPr algn="ctr"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安全边界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62E9B-F33B-4A91-BBFB-73550C69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479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AE84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7AE84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54C45D-44CB-4832-956C-9CCB57DD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90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工程师确认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DC411B-CA49-4255-85C1-9F46495B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195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选择结论</a:t>
            </a:r>
          </a:p>
          <a:p xmlns:a="http://schemas.openxmlformats.org/drawingml/2006/main">
            <a:pPr algn="ctr"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补充备注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B18D9D-383F-4757-925D-DF6A76F2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479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20B5DA-3818-41BB-86F1-927073B3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90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形成审计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33A3CC-4336-4583-B5B9-3A33BB24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195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人、证据、</a:t>
            </a:r>
          </a:p>
          <a:p xmlns:a="http://schemas.openxmlformats.org/drawingml/2006/main">
            <a:pPr algn="ctr"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时间可追溯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EE1A11-5739-4E7D-B837-46C67BF7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102870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877B2A-AB7E-4718-8E57-0D48EE5B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人机分工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033D91-3240-4B98-8F24-2DA2A7A6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48275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AI 负责持续读取、组织证据和提示下一步；人负责结合工艺、现场与安全边界作最终判断。</a:t>
            </a:r>
          </a:p>
        </p:txBody>
      </p:sp>
    </p:spTree>
    <p:extLst>
      <p:ext uri="{BB962C8B-B14F-4D97-AF65-F5344CB8AC3E}">
        <p14:creationId xmlns:p14="http://schemas.microsoft.com/office/powerpoint/2010/main" val="8378436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997042-0224-4C75-BFC3-E57991EA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C9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A8C9FF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4B07F-53CB-411F-BCEA-8EB79429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CB2D1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9CB2D1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8B2BF-2ED0-4B39-84BA-9B80598F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87AC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6E87AC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9BD04-824D-4A12-953A-2DFAE71E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625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产业已证明闭环优化有价值；序安补的是安全异常研判层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DAB80-AC93-4852-BDF0-AFF041CB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7D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B7C7DE"/>
                </a:solidFill>
                <a:latin typeface="Source Han Sans SC"/>
                <a:ea typeface="Source Han Sans SC"/>
                <a:cs typeface="Source Han Sans SC"/>
              </a:rPr>
              <a:t>贵州磷化集团“1468”官方公开案例是产业参照，不是序安客户或数据来源。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21A4D-76CA-47B5-9E68-A46767C9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贵州磷化集团“1468”公开案例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63015-EA18-4D19-886A-B5EDF7CA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60A8FF"/>
                </a:solidFill>
                <a:latin typeface="Courier New"/>
                <a:ea typeface="Courier New"/>
                <a:cs typeface="Courier New"/>
              </a:defRPr>
            </a:pPr>
            <a:r>
              <a:rPr sz="3300" b="1">
                <a:solidFill>
                  <a:srgbClr val="60A8FF"/>
                </a:solidFill>
                <a:latin typeface="Courier New"/>
                <a:ea typeface="Courier New"/>
                <a:cs typeface="Courier New"/>
              </a:rPr>
              <a:t>≥2%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89B4C-546A-433C-895E-569BB6C4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相关装置能耗降低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DCA0F-C227-4C38-AB7D-925A733E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58D6D6"/>
                </a:solidFill>
                <a:latin typeface="Courier New"/>
                <a:ea typeface="Courier New"/>
                <a:cs typeface="Courier New"/>
              </a:defRPr>
            </a:pPr>
            <a:r>
              <a:rPr sz="3300" b="1">
                <a:solidFill>
                  <a:srgbClr val="58D6D6"/>
                </a:solidFill>
                <a:latin typeface="Courier New"/>
                <a:ea typeface="Courier New"/>
                <a:cs typeface="Courier New"/>
              </a:rPr>
              <a:t>≥70%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EACB2-5718-4EB8-BD51-B6485526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003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操作频次下降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6A054-D3FC-4D49-88ED-38EECC86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BD6AF"/>
                </a:solidFill>
                <a:latin typeface="Courier New"/>
                <a:ea typeface="Courier New"/>
                <a:cs typeface="Courier New"/>
              </a:defRPr>
            </a:pPr>
            <a:r>
              <a:rPr sz="3300" b="1">
                <a:solidFill>
                  <a:srgbClr val="7BD6AF"/>
                </a:solidFill>
                <a:latin typeface="Courier New"/>
                <a:ea typeface="Courier New"/>
                <a:cs typeface="Courier New"/>
              </a:rPr>
              <a:t>≥30%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CEEB0-45E5-4E30-B4E2-545B0EA3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03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稳定性提升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5A395-C3ED-429A-A41E-F0137577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76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rPr>
              <a:t>官方案例：能耗 / 品质 / 设备预测 → APC + RTO 参数优化 → 边缘控制闭环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2AF59-A713-480D-8B65-EDEBFCC4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4724400" cy="3476625"/>
          </a:xfrm>
          <a:prstGeom xmlns:a="http://schemas.openxmlformats.org/drawingml/2006/main" prst="roundRect">
            <a:avLst>
              <a:gd name="adj" fmla="val 6027"/>
            </a:avLst>
          </a:prstGeom>
          <a:solidFill xmlns:a="http://schemas.openxmlformats.org/drawingml/2006/main">
            <a:srgbClr val="0F2445"/>
          </a:solidFill>
          <a:ln xmlns:a="http://schemas.openxmlformats.org/drawingml/2006/main" w="9525">
            <a:solidFill>
              <a:srgbClr val="244A7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F4820-7094-439E-AEF9-DF4C757A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479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序安的差异化位置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1DACF-8422-4FFC-BEBA-7ECC794E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57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8349E-58B8-4BF5-AA83-83B18FCD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241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F4D5AD-76D4-4B23-ACFD-5F0B3C6E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765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rPr>
              <a:t>偏移提前发现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29664-8D70-498D-9055-B34B88B0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09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211211-70BC-4251-86C3-F6ADF944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766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46F390-E4CC-4CD3-9700-D7496594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29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rPr>
              <a:t>故障候选 + 变量证据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565C19-33CC-43F3-AC83-A4F1BF79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62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84"/>
          </a:solidFill>
          <a:ln xmlns:a="http://schemas.openxmlformats.org/drawingml/2006/main" w="9525">
            <a:solidFill>
              <a:srgbClr val="27AE8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34B31B-A3E9-4D36-AEF7-04FB4A0B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290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63CD5F-7DCA-4DF9-A86B-58A543D5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8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rPr>
              <a:t>人机接管与确认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27F0BF-107A-436E-96D9-6DD0DAF5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14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33B951-DBEB-44E0-89B4-9A91377A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815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76F21B-5BC9-43A3-9E49-F128D23D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339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rPr>
              <a:t>审计留痕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4707B3-573D-4803-A356-913030F3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762625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0B1B36"/>
          </a:solidFill>
          <a:ln xmlns:a="http://schemas.openxmlformats.org/drawingml/2006/main" w="9525">
            <a:solidFill>
              <a:srgbClr val="2745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01397B-C046-49F3-BE72-90248B90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8D6D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75" b="1">
                <a:solidFill>
                  <a:srgbClr val="58D6D6"/>
                </a:solidFill>
                <a:latin typeface="Source Han Sans SC"/>
                <a:ea typeface="Source Han Sans SC"/>
                <a:cs typeface="Source Han Sans SC"/>
              </a:rPr>
              <a:t>当前只读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1AA3BA-82AF-45FA-99CD-BE6BF468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rPr>
              <a:t>未来接入 APC / PLC / DCS：人工授权 → 权限校验 → 联锁/安全边界校验 → 受控控制网关；任一失败即保持只读并留痕。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1AC765-53EC-477B-85D7-A68C71A1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15000"/>
            <a:ext cx="472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7C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8FA7C7"/>
                </a:solidFill>
                <a:latin typeface="Source Han Sans SC"/>
                <a:ea typeface="Source Han Sans SC"/>
                <a:cs typeface="Source Han Sans SC"/>
              </a:rPr>
              <a:t>公开产业参照｜不暗示合作｜不使用其真实生产数据</a:t>
            </a:r>
          </a:p>
        </p:txBody>
      </p:sp>
    </p:spTree>
    <p:extLst>
      <p:ext uri="{BB962C8B-B14F-4D97-AF65-F5344CB8AC3E}">
        <p14:creationId xmlns:p14="http://schemas.microsoft.com/office/powerpoint/2010/main" val="19044242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76F914-40EB-419F-9DBB-5448F70C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1C554-D47D-4FF6-9E40-C3599078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2CF27-C8E2-4CCD-8186-C9914E76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2831B-EF20-4274-8E16-426F2F9E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公开数据、冻结构建、版本化模型，让每次判断可复现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67CD4-010C-4F32-8507-CC3C7B97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我们不把仿真结果包装成真实工厂效果，而是把来源、版本和边界一起交付。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C5885-909D-4094-88C0-6CC11B9C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286250" cy="3829050"/>
          </a:xfrm>
          <a:prstGeom xmlns:a="http://schemas.openxmlformats.org/drawingml/2006/main" prst="roundRect">
            <a:avLst>
              <a:gd name="adj" fmla="val 49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19461-A989-49EB-B7DD-476F9191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Tennessee Eastman Process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05381-A70E-4A85-9B59-C2AFFE36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公开仿真过程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5D697-7582-413F-BCE2-DA4CD42D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33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52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2FB88-34BE-4211-B9E1-C0C364DD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变量：41 测量 + 11 操纵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ECD05-6748-4198-97BA-D20C140A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480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C2C2"/>
                </a:solidFill>
                <a:latin typeface="Courier New"/>
                <a:ea typeface="Courier New"/>
                <a:cs typeface="Courier New"/>
              </a:defRPr>
            </a:pPr>
            <a:r>
              <a:rPr sz="3300" b="1">
                <a:solidFill>
                  <a:srgbClr val="13C2C2"/>
                </a:solidFill>
                <a:latin typeface="Courier New"/>
                <a:ea typeface="Courier New"/>
                <a:cs typeface="Courier New"/>
              </a:rPr>
              <a:t>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8AC6D-1A62-40ED-9350-776EA1A5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671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类公开过程扰动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93BDD-0C92-4995-B405-E2135F9F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E5B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1">
                <a:solidFill>
                  <a:srgbClr val="DE5B6D"/>
                </a:solidFill>
                <a:latin typeface="Source Han Sans SC"/>
                <a:ea typeface="Source Han Sans SC"/>
                <a:cs typeface="Source Han Sans SC"/>
              </a:rPr>
              <a:t>不能推断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BFC8A-A62B-402A-AF05-651AFF2A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真实装置提前量、误报/漏报、经济收益或企业 SOP。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92DBE-E229-4A6D-8B08-517CDAC3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57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ZIP SHA-256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D6BC3-1EDB-4532-9F55-159F54A2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81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fe3a3b0f…24f4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10EA06-C352-450C-883B-428E46E9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955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4028D-6112-4E08-842F-BAFB0DAF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86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buildHash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1A1638-D6A9-42D1-B62B-623F955A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9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c8920c78…c83b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1B35E-113A-4794-8E05-795B06A4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2420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63E3D4-5DDB-40A3-B4CC-63261110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14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modelVersion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739CF2-3986-4BAB-AD24-ADDD54EA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38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tep-pca-hgb-5bc36d3f4e6b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855EDA-4F75-4B7F-B404-0B50AC4F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528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021B1C-D7AA-4235-B62B-F9D185B4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冻结场景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17AD95-1985-4A72-ABF5-5701C6D1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F01 · F06 · F13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3822EB-C1B0-4DF9-92EB-1E1C9498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8150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DE75A0-2628-483E-96FB-826F6EFF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部署证据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A16C1F-592A-4E6E-8758-E161AC20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95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5 个健康服务 + E2E + SSE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19E07D-E200-4964-AF24-12CCAEA0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101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1A5D06-9815-4FFD-B326-F014AB36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00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Web 验收基线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68F2FE-4F45-4289-BBC5-89EAE193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244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39 passed + lint + production build</a:t>
            </a:r>
          </a:p>
        </p:txBody>
      </p:sp>
    </p:spTree>
    <p:extLst>
      <p:ext uri="{BB962C8B-B14F-4D97-AF65-F5344CB8AC3E}">
        <p14:creationId xmlns:p14="http://schemas.microsoft.com/office/powerpoint/2010/main" val="1627759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8156F8-AE70-459C-A175-B217118B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1A5DF-6923-48A8-BEA9-18DC5FDD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FCD3C-D7D7-49E9-85C0-5190FC6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F3897-F665-4C0E-BE90-0503B601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三分钟现场 Demo：从回放走到一条可审计记录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8BE57-965F-4B35-97DF-EB89A72B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不切功能清单，只走完一次完整研判。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42EC4-09FF-439A-85C9-03B2D420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76475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193D3-DEB8-4CBF-A639-570AB3FE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05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ADA5E-18D6-4D1F-A3A2-36C1C81C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BCD17-1AF3-4103-8665-1EF77A1C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选 F01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5C99F-4212-43DD-930B-E01CC1B7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76475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F5000-4E1A-4647-BF22-D700F265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05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44E49-35E5-4ACD-BCB1-673675E7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28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9D531-55BD-44FF-AC21-F7380614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860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开始回放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B0A99-5110-4E07-B3D4-EBBE2F54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76475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D2D87-2D8A-4B5F-A631-8A3D66E1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05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724CF-2A7A-4598-AFD4-BDFB140D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28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A3930F-1F15-442C-A231-75BDE77B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860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看见偏移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CA5B42-F55A-48E3-89B7-0748EA14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76475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5ED27-FD83-4F99-8FFC-158356F0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05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FCDE94-D489-4FD5-A965-D259020C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28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6DF280-5E19-4F05-87B7-F934ED3C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860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打开研判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963345-B60D-4630-982D-6D81F09D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76475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22E905-1448-45C9-9FAD-16F6460A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05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975E24-0A28-4E7F-8863-5E8FE34B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28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057F28-106D-4BF8-B1D1-CBAAF23A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860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25E72A-3BCE-4A10-8A2A-812984AD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05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84"/>
          </a:solidFill>
          <a:ln xmlns:a="http://schemas.openxmlformats.org/drawingml/2006/main" w="9525">
            <a:solidFill>
              <a:srgbClr val="27AE8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0B76EF-5AB7-4ACA-B7A1-1ECAE368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28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099B69-4A88-4B73-AE9D-1C1AFAF5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860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审计记录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9F7302-2182-4E20-8486-F8149510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69532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c23dc2ef74e2d"/>
          <a:srcRect xmlns:a="http://schemas.openxmlformats.org/drawingml/2006/main" l="0" t="22422" r="0" b="224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3429000"/>
            <a:ext cx="6686550" cy="2305050"/>
          </a:xfrm>
          <a:prstGeom xmlns:a="http://schemas.openxmlformats.org/drawingml/2006/main" prst="roundRect">
            <a:avLst>
              <a:gd name="adj" fmla="val 4959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6304CE-E38F-433A-84CC-2527F684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337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现场兜底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0CFB63-319C-4F8C-9C38-9D45A312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网络不可达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E29CAD-52CD-43E4-B69D-33289E58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100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明确进入演示回退，不伪装成功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BB79A8-5FED-4A53-9129-B63D1F54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62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LLM 不可用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4D799D-35B2-4839-B21C-705AE6FB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确定性建议模板仍可跑完整链路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9F931F-B8F7-4412-B45F-7F6D61FF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38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Demo：huagong.finlaw.cloud/demo</a:t>
            </a:r>
          </a:p>
        </p:txBody>
      </p:sp>
    </p:spTree>
    <p:extLst>
      <p:ext uri="{BB962C8B-B14F-4D97-AF65-F5344CB8AC3E}">
        <p14:creationId xmlns:p14="http://schemas.microsoft.com/office/powerpoint/2010/main" val="861588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27CB79-10E8-481E-8D91-17B756EE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704E0-E8B0-45AD-B00B-9742D24C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8841B-4719-4DF5-AAA7-1622547F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6D699-D04A-4A60-9099-49A384EF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落地从一套装置的 4–8 周只读影子模式开始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10D91-6D44-451F-B3F9-B5737609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先证明判断质量，再讨论任何控制写回。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18460-9556-4A3B-8FDC-64BC960D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4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4–8 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D3693-48D1-473F-99F8-984A9E93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只读影子模式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18F79-2540-4858-93E8-0D0B9204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一套装置 · 一条历史数据链路 · 一个班组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72B21-E13C-4039-9FA4-C908FA4F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2857500" cy="10287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5E2"/>
          </a:solidFill>
          <a:ln xmlns:a="http://schemas.openxmlformats.org/drawingml/2006/main" w="9525">
            <a:solidFill>
              <a:srgbClr val="F6D89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F7F2D-AEFC-4B1B-A0A8-065710CD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5D1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1">
                <a:solidFill>
                  <a:srgbClr val="8B5D14"/>
                </a:solidFill>
                <a:latin typeface="Source Han Sans SC"/>
                <a:ea typeface="Source Han Sans SC"/>
                <a:cs typeface="Source Han Sans SC"/>
              </a:rPr>
              <a:t>PoC 期间不做自动写回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5C784-3216-49B8-9CA7-F08E8088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B5D1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8B5D14"/>
                </a:solidFill>
                <a:latin typeface="Source Han Sans SC"/>
                <a:ea typeface="Source Han Sans SC"/>
                <a:cs typeface="Source Han Sans SC"/>
              </a:rPr>
              <a:t>只评估提前量、误报、漏报和处置时间。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DA296-F735-4857-ABD2-2176EF9F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718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BF505-F16C-4C05-87E5-92D215D8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33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CD80A-6004-4CAC-9392-D566244B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336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数据对齐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BC5DF-1F1E-46E8-B7FB-2953993E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031F7-324A-4E7C-B68E-D3FAE810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05250"/>
            <a:ext cx="1285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变量字典</a:t>
            </a:r>
          </a:p>
          <a:p xmlns:a="http://schemas.openxmlformats.org/drawingml/2006/main">
            <a:pPr algn="ctr"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采样时间</a:t>
            </a:r>
          </a:p>
          <a:p xmlns:a="http://schemas.openxmlformats.org/drawingml/2006/main">
            <a:pPr algn="ctr"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数据质量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C4206-7B74-47EC-A678-96A76F0E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486FBC-0234-49BB-9C2F-AED3DD95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33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16CD22-14D5-4CFB-B17F-30B0CA6B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336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建立基线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B6027-19AB-46BB-8971-B2A6F296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D7A7DB-4148-47DF-823A-E5359F29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05250"/>
            <a:ext cx="1285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历史正常工况</a:t>
            </a:r>
          </a:p>
          <a:p xmlns:a="http://schemas.openxmlformats.org/drawingml/2006/main">
            <a:pPr algn="ctr"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工况分层</a:t>
            </a:r>
          </a:p>
          <a:p xmlns:a="http://schemas.openxmlformats.org/drawingml/2006/main">
            <a:pPr algn="ctr"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阈值版本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B85774-9EF5-4CD2-98FF-9E3A6EF6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718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743E01-8394-49CD-8170-903E5097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33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C129A4-F717-45AB-9C3D-14829284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336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专家校验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F8B272-F122-4B2D-9EEC-B0D6714F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5DB190-21E4-47F6-9BBC-27307F3D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05250"/>
            <a:ext cx="1285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故障标签</a:t>
            </a:r>
          </a:p>
          <a:p xmlns:a="http://schemas.openxmlformats.org/drawingml/2006/main">
            <a:pPr algn="ctr"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检查顺序</a:t>
            </a:r>
          </a:p>
          <a:p xmlns:a="http://schemas.openxmlformats.org/drawingml/2006/main">
            <a:pPr algn="ctr"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安全边界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251E40-0954-4B2D-86BF-8CAB3DA6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718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1A1DE0-38FD-4044-AAE9-41EB4B01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33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FC0233-F7BB-4704-90A8-A35989FD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336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影子运行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CEC007-5A80-445A-B399-D5AED761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75CDA7-DDFB-4585-BB89-CD5BA78C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05250"/>
            <a:ext cx="1285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持续监测</a:t>
            </a:r>
          </a:p>
          <a:p xmlns:a="http://schemas.openxmlformats.org/drawingml/2006/main">
            <a:pPr algn="ctr"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人工确认</a:t>
            </a:r>
          </a:p>
          <a:p xmlns:a="http://schemas.openxmlformats.org/drawingml/2006/main">
            <a:pPr algn="ctr"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审计留痕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F22BCD-3DFB-4DB2-93C9-F19C285E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33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6A8141-E382-45D1-8852-9BB9EA76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336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验收决策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7B6F79-5274-4A7F-A8CA-FE75CB06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84"/>
          </a:solidFill>
          <a:ln xmlns:a="http://schemas.openxmlformats.org/drawingml/2006/main" w="9525">
            <a:solidFill>
              <a:srgbClr val="27AE8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AF1352-0CD3-4DA8-982C-CD7D865E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905250"/>
            <a:ext cx="1285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指标复盘</a:t>
            </a:r>
          </a:p>
          <a:p xmlns:a="http://schemas.openxmlformats.org/drawingml/2006/main">
            <a:pPr algn="ctr"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边界评审</a:t>
            </a:r>
          </a:p>
          <a:p xmlns:a="http://schemas.openxmlformats.org/drawingml/2006/main">
            <a:pPr algn="ctr"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下一阶段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F40757-3555-467B-84C0-88AC1D08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3911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交付基座：数据 manifest · 模型版本 · API 契约 · 前后端 · 容器部署 · 备份与回滚</a:t>
            </a:r>
          </a:p>
        </p:txBody>
      </p:sp>
    </p:spTree>
    <p:extLst>
      <p:ext uri="{BB962C8B-B14F-4D97-AF65-F5344CB8AC3E}">
        <p14:creationId xmlns:p14="http://schemas.microsoft.com/office/powerpoint/2010/main" val="14406120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0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b6a469cee42a8"/>
          <a:stretch xmlns:a="http://schemas.openxmlformats.org/drawingml/2006/main"/>
        </p:blipFill>
        <p:spPr>
          <a:xfrm xmlns:a="http://schemas.openxmlformats.org/drawingml/2006/main">
            <a:off x="8707631" y="685800"/>
            <a:ext cx="2330062" cy="20764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6878D-15E5-436A-9470-0CCCA259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D6D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1">
                <a:solidFill>
                  <a:srgbClr val="58D6D6"/>
                </a:solidFill>
                <a:latin typeface="Source Han Sans SC"/>
                <a:ea typeface="Source Han Sans SC"/>
                <a:cs typeface="Source Han Sans SC"/>
              </a:rPr>
              <a:t>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AA5BF-156D-4D7A-A3A9-A2C512EF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9532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9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用一个班组，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9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把判断时间变成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9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可验证的工程指标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6C7B5-3658-4083-9A1D-D21300FE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75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rPr>
              <a:t>选择一套装置 · 接一条历史数据链路 · 定义一组 PoC 验收口径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8460B-307C-4B43-A55C-86CC67A6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72199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F2445"/>
          </a:solidFill>
          <a:ln xmlns:a="http://schemas.openxmlformats.org/drawingml/2006/main" w="9525">
            <a:solidFill>
              <a:srgbClr val="244A7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AB59C-685C-44FF-A979-57C65CAE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序安的承诺：先把证据和责任链做扎实，再谈自动控制。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754DE-89B7-414A-A11D-09E9047E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715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C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050" b="1">
                <a:solidFill>
                  <a:srgbClr val="8FCFFF"/>
                </a:solidFill>
                <a:latin typeface="Source Han Sans SC"/>
                <a:ea typeface="Source Han Sans SC"/>
                <a:cs typeface="Source Han Sans SC"/>
              </a:rPr>
              <a:t>Process Sentinel · 序安·过程哨兵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F69D4-206E-4D1D-B6D7-7304DBC2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07695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87AC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6E87AC"/>
                </a:solidFill>
                <a:latin typeface="Courier New"/>
                <a:ea typeface="Courier New"/>
                <a:cs typeface="Courier New"/>
              </a:rPr>
              <a:t>REVIEW · 2026.08</a:t>
            </a:r>
          </a:p>
        </p:txBody>
      </p:sp>
    </p:spTree>
    <p:extLst>
      <p:ext uri="{BB962C8B-B14F-4D97-AF65-F5344CB8AC3E}">
        <p14:creationId xmlns:p14="http://schemas.microsoft.com/office/powerpoint/2010/main" val="3447490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2026-08-28T09:48:42.6990000Z</dcterms:created>
  <dcterms:modified xsi:type="dcterms:W3CDTF">2026-08-28T09:48:42.6990000Z</dcterms:modified>
</coreProperties>
</file>