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5a501135044fc" /><Relationship Type="http://schemas.openxmlformats.org/officeDocument/2006/relationships/extended-properties" Target="/docProps/app.xml" Id="R421d84826096487d" /><Relationship Type="http://schemas.openxmlformats.org/officeDocument/2006/relationships/officeDocument" Target="/ppt/presentation.xml" Id="R8ed5f8d2f46c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db54b4f4294882"/>
  </p:sldMasterIdLst>
  <p:notesMasterIdLst>
    <p:notesMasterId xmlns:r="http://schemas.openxmlformats.org/officeDocument/2006/relationships" r:id="R162b9a16c3dc4890"/>
  </p:notesMasterIdLst>
  <p:sldIdLst>
    <p:sldId xmlns:r="http://schemas.openxmlformats.org/officeDocument/2006/relationships" id="256" r:id="R8de2a33dcc2d4b54"/>
    <p:sldId xmlns:r="http://schemas.openxmlformats.org/officeDocument/2006/relationships" id="257" r:id="R07dc49bfb4534439"/>
    <p:sldId xmlns:r="http://schemas.openxmlformats.org/officeDocument/2006/relationships" id="258" r:id="R802f0bac0a394bcf"/>
    <p:sldId xmlns:r="http://schemas.openxmlformats.org/officeDocument/2006/relationships" id="259" r:id="R7506ce4b6cf8446f"/>
    <p:sldId xmlns:r="http://schemas.openxmlformats.org/officeDocument/2006/relationships" id="260" r:id="R769a188ff9204368"/>
    <p:sldId xmlns:r="http://schemas.openxmlformats.org/officeDocument/2006/relationships" id="261" r:id="Rb81b55946a024249"/>
    <p:sldId xmlns:r="http://schemas.openxmlformats.org/officeDocument/2006/relationships" id="262" r:id="Rf3145a20217243ac"/>
    <p:sldId xmlns:r="http://schemas.openxmlformats.org/officeDocument/2006/relationships" id="263" r:id="R0c69f3750579479d"/>
    <p:sldId xmlns:r="http://schemas.openxmlformats.org/officeDocument/2006/relationships" id="264" r:id="R593ea8b5890841d0"/>
    <p:sldId xmlns:r="http://schemas.openxmlformats.org/officeDocument/2006/relationships" id="265" r:id="R0ee52927750048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102fa2df27445b" /><Relationship Type="http://schemas.openxmlformats.org/officeDocument/2006/relationships/slideMaster" Target="/ppt/slideMasters/slideMaster1.xml" Id="R67db54b4f4294882" /><Relationship Type="http://schemas.openxmlformats.org/officeDocument/2006/relationships/notesMaster" Target="/ppt/notesMasters/notesMaster1.xml" Id="R162b9a16c3dc4890" /><Relationship Type="http://schemas.openxmlformats.org/officeDocument/2006/relationships/presProps" Target="/ppt/presProps.xml" Id="Ra59060fe38314afd" /><Relationship Type="http://schemas.openxmlformats.org/officeDocument/2006/relationships/tableStyles" Target="/ppt/tableStyles.xml" Id="R6d505f2f73154808" /><Relationship Type="http://schemas.openxmlformats.org/officeDocument/2006/relationships/slide" Target="/ppt/slides/slide1.xml" Id="R8de2a33dcc2d4b54" /><Relationship Type="http://schemas.openxmlformats.org/officeDocument/2006/relationships/slide" Target="/ppt/slides/slide2.xml" Id="R07dc49bfb4534439" /><Relationship Type="http://schemas.openxmlformats.org/officeDocument/2006/relationships/slide" Target="/ppt/slides/slide3.xml" Id="R802f0bac0a394bcf" /><Relationship Type="http://schemas.openxmlformats.org/officeDocument/2006/relationships/slide" Target="/ppt/slides/slide4.xml" Id="R7506ce4b6cf8446f" /><Relationship Type="http://schemas.openxmlformats.org/officeDocument/2006/relationships/slide" Target="/ppt/slides/slide5.xml" Id="R769a188ff9204368" /><Relationship Type="http://schemas.openxmlformats.org/officeDocument/2006/relationships/slide" Target="/ppt/slides/slide6.xml" Id="Rb81b55946a024249" /><Relationship Type="http://schemas.openxmlformats.org/officeDocument/2006/relationships/slide" Target="/ppt/slides/slide7.xml" Id="Rf3145a20217243ac" /><Relationship Type="http://schemas.openxmlformats.org/officeDocument/2006/relationships/slide" Target="/ppt/slides/slide8.xml" Id="R0c69f3750579479d" /><Relationship Type="http://schemas.openxmlformats.org/officeDocument/2006/relationships/slide" Target="/ppt/slides/slide9.xml" Id="R593ea8b5890841d0" /><Relationship Type="http://schemas.openxmlformats.org/officeDocument/2006/relationships/slide" Target="/ppt/slides/slide10.xml" Id="R0ee529277500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ed97ce85849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3c5738215f452f" /><Relationship Type="http://schemas.openxmlformats.org/officeDocument/2006/relationships/notesMaster" Target="/ppt/notesMasters/notesMaster1.xml" Id="R98eb8288ea3d47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d3fa74bc84466" /><Relationship Type="http://schemas.openxmlformats.org/officeDocument/2006/relationships/notesMaster" Target="/ppt/notesMasters/notesMaster1.xml" Id="R230cb1d81e11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977ad0a64b4fff" /><Relationship Type="http://schemas.openxmlformats.org/officeDocument/2006/relationships/notesMaster" Target="/ppt/notesMasters/notesMaster1.xml" Id="R9390e40409e24b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05ea8bf03346f5" /><Relationship Type="http://schemas.openxmlformats.org/officeDocument/2006/relationships/notesMaster" Target="/ppt/notesMasters/notesMaster1.xml" Id="Rfdaa359549b84f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f039db61d64acb" /><Relationship Type="http://schemas.openxmlformats.org/officeDocument/2006/relationships/notesMaster" Target="/ppt/notesMasters/notesMaster1.xml" Id="R88ac32dfa481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c37e9ea7514548" /><Relationship Type="http://schemas.openxmlformats.org/officeDocument/2006/relationships/notesMaster" Target="/ppt/notesMasters/notesMaster1.xml" Id="R9632362e9e2540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47cfa6b514c6d" /><Relationship Type="http://schemas.openxmlformats.org/officeDocument/2006/relationships/notesMaster" Target="/ppt/notesMasters/notesMaster1.xml" Id="R80323e24d43f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82e8b8cc64a7b" /><Relationship Type="http://schemas.openxmlformats.org/officeDocument/2006/relationships/notesMaster" Target="/ppt/notesMasters/notesMaster1.xml" Id="Rba869bd89ac341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e0f19654504efb" /><Relationship Type="http://schemas.openxmlformats.org/officeDocument/2006/relationships/notesMaster" Target="/ppt/notesMasters/notesMaster1.xml" Id="R2f1ce4eeb2c946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694e54d238423a" /><Relationship Type="http://schemas.openxmlformats.org/officeDocument/2006/relationships/notesMaster" Target="/ppt/notesMasters/notesMaster1.xml" Id="R8cc390465d1a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内部事实源：README.md；docs/submission/作品说明_v01_DRAFT.md</a:t>
            </a:r>
          </a:p>
          <a:p xmlns:a="http://schemas.openxmlformats.org/drawingml/2006/main">
            <a:r>
              <a:t>- 视觉资产：Wuno 设计系统 / WUWEI_Wuno_蓝色球形主视觉.png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变量构成：docs/submission/数据说明_v01_DRAFT.md</a:t>
            </a:r>
          </a:p>
          <a:p xmlns:a="http://schemas.openxmlformats.org/drawingml/2006/main">
            <a:r>
              <a:t>- 现场研判问题定义：docs/submission/作品说明_v01_DRAFT.md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检测与热力格：docs/submission/作品说明_v01_DRAFT.md</a:t>
            </a:r>
          </a:p>
          <a:p xmlns:a="http://schemas.openxmlformats.org/drawingml/2006/main">
            <a:r>
              <a:t>- 在线 PCA 不变量：services/ml/README.md</a:t>
            </a:r>
          </a:p>
          <a:p xmlns:a="http://schemas.openxmlformats.org/drawingml/2006/main">
            <a:r>
              <a:t>- 产品截图：90_构建与分析缓存/序安黑客松路演_v01/assets/process-replay.png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两阶段时间轴、20 样本窗口与建议边界：docs/submission/作品说明_v01_DRAFT.md；docs/submission/三分钟Demo脚本_v01_DRAFT.md</a:t>
            </a:r>
          </a:p>
          <a:p xmlns:a="http://schemas.openxmlformats.org/drawingml/2006/main">
            <a:r>
              <a:t>- 产品截图：90_构建与分析缓存/序安黑客松路演_v01/assets/event-analysis.png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人机确认与审计链路：README.md；docs/submission/作品说明_v01_DRAFT.md</a:t>
            </a:r>
          </a:p>
          <a:p xmlns:a="http://schemas.openxmlformats.org/drawingml/2006/main">
            <a:r>
              <a:t>- 边界说明：当前产品不具备自由对话式现场控制，也不自动写回控制系统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贵州省大数据发展管理局，2026-01-20：https://dsj.guizhou.gov.cn/ztzl/rdzt/jdal/202601/t20260120_89316875.html</a:t>
            </a:r>
          </a:p>
          <a:p xmlns:a="http://schemas.openxmlformats.org/drawingml/2006/main">
            <a:r>
              <a:t>- 官方案例公开口径：预测、APC、RTO、边缘控制；相关装置能耗降低 2% 以上、操作频次下降 70% 以上、稳定性提升 30% 以上</a:t>
            </a:r>
          </a:p>
          <a:p xmlns:a="http://schemas.openxmlformats.org/drawingml/2006/main">
            <a:r>
              <a:t>- 边界：该案例仅作产业参照；序安与贵州磷化集团无已知合作或真实数据关系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上游：https://github.com/camaramm/tennessee-eastman-profBraatz</a:t>
            </a:r>
          </a:p>
          <a:p xmlns:a="http://schemas.openxmlformats.org/drawingml/2006/main">
            <a:r>
              <a:t>- 数据 hash、变量、窗口与冻结场景：docs/submission/数据说明_v01_DRAFT.md</a:t>
            </a:r>
          </a:p>
          <a:p xmlns:a="http://schemas.openxmlformats.org/drawingml/2006/main">
            <a:r>
              <a:t>- 测试与部署：README.md；docs/deployment.md；build/qa/playwright_截图与响应式验收.json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三分钟路径与兜底：docs/submission/三分钟Demo脚本_v01_DRAFT.md</a:t>
            </a:r>
          </a:p>
          <a:p xmlns:a="http://schemas.openxmlformats.org/drawingml/2006/main">
            <a:r>
              <a:t>- 部署入口与 E2E：README.md；docs/deployment.md</a:t>
            </a:r>
          </a:p>
          <a:p xmlns:a="http://schemas.openxmlformats.org/drawingml/2006/main">
            <a:r>
              <a:t>- 产品截图：90_构建与分析缓存/序安黑客松路演_v01/assets/audit-record.png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 路径：docs/submission/作品说明_v01_DRAFT.md；README.md</a:t>
            </a:r>
          </a:p>
          <a:p xmlns:a="http://schemas.openxmlformats.org/drawingml/2006/main">
            <a:r>
              <a:t>- 部署、备份与回滚：docs/deployment.md</a:t>
            </a:r>
          </a:p>
          <a:p xmlns:a="http://schemas.openxmlformats.org/drawingml/2006/main">
            <a:r>
              <a:t>- 影子模式期间的真实指标必须由现场数据重新定义，不能由 TEP Demo 外推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行动建议基于内部 PoC 路径：docs/submission/作品说明_v01_DRAFT.md</a:t>
            </a:r>
          </a:p>
          <a:p xmlns:a="http://schemas.openxmlformats.org/drawingml/2006/main">
            <a:r>
              <a:t>- 视觉资产：Wuno 设计系统 / WUWEI_Wuno_蓝色球形主视觉.png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d53c0d274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244de002b4581" /><Relationship Type="http://schemas.openxmlformats.org/officeDocument/2006/relationships/slideLayout" Target="/ppt/slideLayouts/slideLayout1.xml" Id="R8f3a4d91ad54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3a4d91ad54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a656b33cc4f29" /><Relationship Type="http://schemas.openxmlformats.org/officeDocument/2006/relationships/image" Target="/ppt/media/image.png" Id="R5d04ddd6541347c5" /><Relationship Type="http://schemas.openxmlformats.org/officeDocument/2006/relationships/notesSlide" Target="/ppt/notesSlides/notesSlide1.xml" Id="R99701852ebff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6c81198314e3d" /><Relationship Type="http://schemas.openxmlformats.org/officeDocument/2006/relationships/notesSlide" Target="/ppt/notesSlides/notesSlide2.xml" Id="R31a516fc6418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1154a37544e1a" /><Relationship Type="http://schemas.openxmlformats.org/officeDocument/2006/relationships/image" Target="/ppt/media/image2.png" Id="R1686d286de744553" /><Relationship Type="http://schemas.openxmlformats.org/officeDocument/2006/relationships/notesSlide" Target="/ppt/notesSlides/notesSlide3.xml" Id="Rcffb296ef70d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630851fb4966" /><Relationship Type="http://schemas.openxmlformats.org/officeDocument/2006/relationships/image" Target="/ppt/media/image3.png" Id="R803bd6158b984a61" /><Relationship Type="http://schemas.openxmlformats.org/officeDocument/2006/relationships/notesSlide" Target="/ppt/notesSlides/notesSlide4.xml" Id="Rafce097ede25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56ab5bdeb4ab7" /><Relationship Type="http://schemas.openxmlformats.org/officeDocument/2006/relationships/notesSlide" Target="/ppt/notesSlides/notesSlide5.xml" Id="Rd5886f54ab0e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6b840b6fb4972" /><Relationship Type="http://schemas.openxmlformats.org/officeDocument/2006/relationships/notesSlide" Target="/ppt/notesSlides/notesSlide6.xml" Id="R18d800df5d5746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2310688d44295" /><Relationship Type="http://schemas.openxmlformats.org/officeDocument/2006/relationships/notesSlide" Target="/ppt/notesSlides/notesSlide7.xml" Id="Rc69db40e9482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d92df2eb14fc6" /><Relationship Type="http://schemas.openxmlformats.org/officeDocument/2006/relationships/image" Target="/ppt/media/image4.png" Id="R3451b4f90bc049ff" /><Relationship Type="http://schemas.openxmlformats.org/officeDocument/2006/relationships/notesSlide" Target="/ppt/notesSlides/notesSlide8.xml" Id="Rb23073f9664d41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efbb9a13d4321" /><Relationship Type="http://schemas.openxmlformats.org/officeDocument/2006/relationships/notesSlide" Target="/ppt/notesSlides/notesSlide9.xml" Id="Rb95683576eee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3465eb77e48d0" /><Relationship Type="http://schemas.openxmlformats.org/officeDocument/2006/relationships/image" Target="/ppt/media/image5.png" Id="R1ea7c65d6f7d4a30" /><Relationship Type="http://schemas.openxmlformats.org/officeDocument/2006/relationships/notesSlide" Target="/ppt/notesSlides/notesSlide10.xml" Id="R984087c8a8db4b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8E8A-D1E5-4A20-9F66-D6598394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8345E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4ddd6541347c5"/>
          <a:stretch xmlns:a="http://schemas.openxmlformats.org/drawingml/2006/main"/>
        </p:blipFill>
        <p:spPr>
          <a:xfrm xmlns:a="http://schemas.openxmlformats.org/drawingml/2006/main">
            <a:off x="7858125" y="747745"/>
            <a:ext cx="3238500" cy="288601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EDE70-CE30-44DA-8E56-DE1A7430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E4BC4-6927-4843-9FBE-11CC4A43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rPr>
              <a:t>PROCESS 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0DF30-3E2F-4825-BAEE-90D48B2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事故之前，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过程先偏了一点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13A17-EA2D-4179-9A1D-B9621AB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连续化工过程偏移副驾驶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AA34B-16CF-45E5-AD6C-DF9D701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先发现偏移 · 再交付证据 · 最后由人确认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B3375-FA83-413A-9199-AA989EC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rPr>
              <a:t>黑客松路演 · 2026.08 · REVIEW</a:t>
            </a:r>
          </a:p>
        </p:txBody>
      </p:sp>
    </p:spTree>
    <p:extLst>
      <p:ext uri="{BB962C8B-B14F-4D97-AF65-F5344CB8AC3E}">
        <p14:creationId xmlns:p14="http://schemas.microsoft.com/office/powerpoint/2010/main" val="87324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24142-645D-4D07-9872-4AE28DD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D5A87-2629-42DA-B6FC-4D305B0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3C37C-CCC0-4CB8-A2D8-9D89B1B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E5881-24A0-4184-AEF5-7ACF163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现场堵点不是没有报警，而是 52 路变量同时在说不同的话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0AE21-DBAB-4BB4-A6CA-70F2C329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单点红灯无法替工程师完成一次跨变量、跨时间、可追溯的判断。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7299-3857-4226-9042-42AE31A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52D33-297F-435B-883A-BD4AEEF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路过程变量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41 测量 + 11 操纵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BDE2-842B-42EC-BB19-DBA2411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进料组成、流量、压力、温度和阀位可能同时变化。异常不是一盏灯，而是一段关系正在失稳。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AC95-0D74-4A63-BE44-106235F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43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0446E-4CF1-4899-A69E-E938EC3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AB13-7F7B-457B-9D28-E546E24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是不是真偏了？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3016-E300-4B0A-9DC4-B292E92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区分持续偏移与短时噪声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3A0CF-BE1E-410F-BA09-B8B242A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8407D-0998-4742-98E1-243834B4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956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4FAAE-E72F-4975-9575-AB1E2E5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先看哪三个变量？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63DB3-0354-4CEE-8F1E-80C0F76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051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把 52 路信号压缩成证据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635CB-78F0-4D75-8239-6DC1EF24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1F0C-9709-427C-880E-9C2EA76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95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B7B5C-8330-4516-AD65-0F68F9A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下一步先查什么？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71C09-918E-4E26-91D8-FA66802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05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给出可执行的检查顺序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58470-2FA3-4095-AFA2-0CC8288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43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46133-2553-4FB5-9C82-6A8D256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958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CAD6A-BD63-46E6-AE49-BA11644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谁确认过？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609DA-5113-41F1-B6C6-ECA45271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054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交班、复盘与审计可追溯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0C1C9-57FF-4274-A9E6-EBFBA09A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266950" cy="2609850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733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EEBAF-31E2-4F5D-96B8-9664EFB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异常前的十分钟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7B39D-74A7-495F-B3AF-91025E8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80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报警还没替你解释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变量关系已经变了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交班记录仍是空白</a:t>
            </a:r>
          </a:p>
        </p:txBody>
      </p:sp>
    </p:spTree>
    <p:extLst>
      <p:ext uri="{BB962C8B-B14F-4D97-AF65-F5344CB8AC3E}">
        <p14:creationId xmlns:p14="http://schemas.microsoft.com/office/powerpoint/2010/main" val="163067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BB65-C0A9-429C-A8E4-53A086C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D1709-AF07-4166-9DDD-4BB6297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EE335-6B1F-4215-9237-581C217E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88131-0E9A-4799-A49B-C96EB15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在事故形成前，把持续偏移从噪声里拎出来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A4F1-B561-44B3-94DD-78D3C81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序安先回答“过程是否偏离正常基线”，再让工程师展开原始变量。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B6B2A-8E8E-4E76-8222-A4B7559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T² + Q/SPE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E2D1F-4D39-4CB6-8A7C-CE9B6EC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连续越界形成事件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114C9-0BA1-4346-8723-8C43550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不是单点越线就报警。事件需要持续性证据；坏数据不会送入 PCA，也不会开启工艺异常事件。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99DC9-EC42-4EA9-86A1-9F6653F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429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CD318-DF4A-4C1F-85DD-E21093C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52 路热力格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6CF7-3BBF-4A7A-8529-4231C38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先看异常集中在哪一组，再展开原始值与时间窗。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7D05A-F5C1-4526-A358-3E946AEB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70866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d286de744553"/>
          <a:srcRect xmlns:a="http://schemas.openxmlformats.org/drawingml/2006/main" l="0" t="5281" r="0" b="5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057400"/>
            <a:ext cx="6781800" cy="3790950"/>
          </a:xfrm>
          <a:prstGeom xmlns:a="http://schemas.openxmlformats.org/drawingml/2006/main" prst="roundRect">
            <a:avLst>
              <a:gd name="adj" fmla="val 3518"/>
            </a:avLst>
          </a:prstGeom>
        </p:spPr>
      </p:pic>
    </p:spTree>
    <p:extLst>
      <p:ext uri="{BB962C8B-B14F-4D97-AF65-F5344CB8AC3E}">
        <p14:creationId xmlns:p14="http://schemas.microsoft.com/office/powerpoint/2010/main" val="454178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08219-2F38-4A49-B4D9-93824FB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D71-B579-4641-9577-CBB5741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A429-B608-41B9-9A0A-476B2B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574D-7994-4985-9122-3B4CC13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不只给结论，还给候选、Top-3 变量和检查顺序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DB5B3-5CF4-4452-875E-F06C7B8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每个判断都能回到事件时间、变量贡献和下一步动作。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F834-9357-4477-8240-B6B76DC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00" cy="4019550"/>
          </a:xfrm>
          <a:prstGeom xmlns:a="http://schemas.openxmlformats.org/drawingml/2006/main" prst="roundRect">
            <a:avLst>
              <a:gd name="adj" fmla="val 473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d6158b984a61"/>
          <a:srcRect xmlns:a="http://schemas.openxmlformats.org/drawingml/2006/main" l="0" t="3095" r="0" b="3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57400"/>
            <a:ext cx="64008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51592-09ED-4A08-93A2-6A8E18F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C9D4-DC78-4646-B65A-C37D90F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6FF22-4748-4A23-9AFE-6AE99D1F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排序告诉工程师先验证什么，不代替最终诊断。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D74F9-C275-4390-8EA8-38CEC33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875F-4B40-41F0-BBFC-13399A0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Top-3 变量证据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8809-4E3A-47EA-86AB-A4A5D3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SPE 贡献 + 共享横轴，解释偏移集中在哪。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3C74E-76D0-40D2-8824-29F3ADA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3BC97-2061-4413-85F4-4A533753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固定检查顺序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E5D29-597A-42DD-89DA-798D8814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没有大模型密钥也能运行；大模型只改写表达，不参与阈值或控制决策。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6F7A-3BA1-4D51-91A0-24772D2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81650"/>
            <a:ext cx="3429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EAB11-DEDF-4538-8AE1-575D186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15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20 个样本 / 60 分钟后刷新；已更新 ≠ 已确认</a:t>
            </a:r>
          </a:p>
        </p:txBody>
      </p:sp>
    </p:spTree>
    <p:extLst>
      <p:ext uri="{BB962C8B-B14F-4D97-AF65-F5344CB8AC3E}">
        <p14:creationId xmlns:p14="http://schemas.microsoft.com/office/powerpoint/2010/main" val="120591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1ECDD-DCAA-43A7-88B6-C8F5EFB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D104-99B1-4546-8996-BF8419B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93559-8212-4264-B2FA-62F79A5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AC05D-7245-4F84-AC17-F209808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主动交互不是聊天，而是推动一次可追溯的人机确认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0897-EB10-477F-83FB-BD22764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系统围绕事件主动组织证据；工程师保留判断权和接管权。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8573-816B-4A21-9418-2F5736C2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195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C6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A716-E73F-409E-84F1-9557C9D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AF6D-376D-40A9-B380-6E8E7ED3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0B793-15C9-44DD-8C09-E7E33B5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02BBD-D1C9-485D-9128-DF0089C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55974-FCAF-4C6F-BD02-5C65F0B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FF021-D83B-49ED-B4D3-AAC0DBF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事件出现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3517-3BAF-4352-966A-8331869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锁定时间窗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标记风险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7CCC-221F-404D-9865-3288FF6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F1CD1-20F0-45C8-B044-1056997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96C36-3282-4CA4-8407-445E3A8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Top-3 变量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4FCB2-AF35-4888-AE91-A044B3C2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939F-5C9E-4127-9C0D-2E4F942D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BB6B8-E9B9-4279-870F-75AE18D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62E9B-F33B-4A91-BBFB-73550C6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4C45D-44CB-4832-956C-9CCB57D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工程师确认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C411B-CA49-4255-85C1-9F46495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选择结论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补充备注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18D9D-383F-4757-925D-DF6A76F2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0B5DA-3818-41BB-86F1-927073B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形成审计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3A3CC-4336-4583-B5B9-3A33BB2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人、证据、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时间可追溯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E1A11-5739-4E7D-B837-46C67BF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287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77B2A-AB7E-4718-8E57-0D48EE5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人机分工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33D91-3240-4B98-8F24-2DA2A7A6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482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负责持续读取、组织证据和提示下一步；人负责结合工艺、现场与安全边界作最终判断。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83784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997042-0224-4C75-BFC3-E57991E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4B07F-53CB-411F-BCEA-8EB7942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8B2BF-2ED0-4B39-84BA-9B80598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9BD04-824D-4A12-953A-2DFAE71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产业已证明闭环优化有价值；序安补的是安全异常研判层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DAB80-AC93-4852-BDF0-AFF041C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rPr>
              <a:t>贵州磷化集团“1468”官方公开案例是产业参照，不是序安客户或数据来源。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21A4D-76CA-47B5-9E68-A46767C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贵州磷化集团“1468”公开案例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63015-EA18-4D19-886A-B5EDF7C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rPr>
              <a:t>≥2%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89B4C-546A-433C-895E-569BB6C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相关装置能耗降低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DCA0F-C227-4C38-AB7D-925A733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rPr>
              <a:t>≥70%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ACB2-5718-4EB8-BD51-B648552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操作频次下降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A054-D3FC-4D49-88ED-38EECC8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rPr>
              <a:t>≥30%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CEEB0-45E5-4E30-B4E2-545B0EA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稳定性提升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5A395-C3ED-429A-A41E-F013757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官方案例：能耗 / 品质 / 设备预测 → APC + RTO 参数优化 → 边缘控制闭环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2AF59-A713-480D-8B65-EDEBFCC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476625"/>
          </a:xfrm>
          <a:prstGeom xmlns:a="http://schemas.openxmlformats.org/drawingml/2006/main" prst="roundRect">
            <a:avLst>
              <a:gd name="adj" fmla="val 6027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4820-7094-439E-AEF9-DF4C757A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序安的差异化位置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1DACF-8422-4FFC-BEBA-7ECC794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8349E-58B8-4BF5-AA83-83B18FC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4D5AD-76D4-4B23-ACFD-5F0B3C6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偏移提前发现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29664-8D70-498D-9055-B34B88B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11211-70BC-4251-86C3-F6ADF94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6F390-E4CC-4CD3-9700-D749659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故障候选 + 变量证据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65C19-33CC-43F3-AC83-A4F1BF7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4B31B-A3E9-4D36-AEF7-04FB4A0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3CD5F-7DCA-4DF9-A86B-58A543D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人机接管与确认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7F0BF-107A-436E-96D9-6DD0DAF5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3B951-DBEB-44E0-89B4-9A91377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6F21B-5BC9-43A3-9E49-F128D23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707B3-573D-4803-A356-913030F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626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274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1397B-C046-49F3-BE72-90248B9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当前只读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AA3BA-82AF-45FA-99CD-BE6BF46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未来接入 APC / PLC / DCS：人工授权 → 权限校验 → 联锁/安全边界校验 → 受控控制网关；任一失败即保持只读并留痕。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AC765-53EC-477B-85D7-A68C71A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rPr>
              <a:t>公开产业参照｜不暗示合作｜不使用其真实生产数据</a:t>
            </a:r>
          </a:p>
        </p:txBody>
      </p:sp>
    </p:spTree>
    <p:extLst>
      <p:ext uri="{BB962C8B-B14F-4D97-AF65-F5344CB8AC3E}">
        <p14:creationId xmlns:p14="http://schemas.microsoft.com/office/powerpoint/2010/main" val="1904424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6F914-40EB-419F-9DBB-5448F70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C554-D47D-4FF6-9E40-C359907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CF27-C8E2-4CCD-8186-C9914E7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831B-EF20-4274-8E16-426F2F9E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公开数据、冻结构建、版本化模型，让每次判断可复现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7CD4-010C-4F32-8507-CC3C7B9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我们不把仿真结果包装成真实工厂效果，而是把来源、版本和边界一起交付。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5885-909D-4094-88C0-6CC11B9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286250" cy="3829050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19461-A989-49EB-B7DD-476F9191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Tennessee Eastman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05381-A70E-4A85-9B59-C2AFFE3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公开仿真过程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D697-7582-413F-BCE2-DA4CD42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2FB88-34BE-4211-B9E1-C0C364DD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变量：41 测量 + 11 操纵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ECD05-6748-4198-97BA-D20C140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8AC6D-1A62-40ED-9350-776EA1A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类公开过程扰动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93BDD-0C92-4995-B405-E2135F9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rPr>
              <a:t>不能推断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BFC8A-A62B-402A-AF05-651AFF2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真实装置提前量、误报/漏报、经济收益或企业 SOP。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92DBE-E229-4A6D-8B08-517CDAC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5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ZIP SHA-256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D6BC3-1EDB-4532-9F55-159F54A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fe3a3b0f…24f4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0EA06-C352-450C-883B-428E46E9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4028D-6112-4E08-842F-BAFB0DA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buildHash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1638-D6A9-42D1-B62B-623F955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c8920c78…c83b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1B35E-113A-4794-8E05-795B06A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3E3D4-5DDB-40A3-B4CC-6326111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modelVersion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39CF2-3986-4BAB-AD24-ADDD54E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tep-pca-hgb-5bc36d3f4e6b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55EDA-4F75-4B7F-B404-0B50AC4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2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21B1C-D7AA-4235-B62B-F9D185B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冻结场景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7AD95-1985-4A72-ABF5-5701C6D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F01 · F06 · F13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822EB-C1B0-4DF9-92EB-1E1C9498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E75A0-2628-483E-96FB-826F6EF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部署证据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16C1F-592A-4E6E-8758-E161AC2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 个健康服务 + E2E + 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9E07D-E200-4964-AF24-12CCAEA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A5D06-9815-4FFD-B326-F014AB3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00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Web 验收基线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8F2FE-4F45-4289-BBC5-89EAE193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39 passed + lint + production build</a:t>
            </a:r>
          </a:p>
        </p:txBody>
      </p:sp>
    </p:spTree>
    <p:extLst>
      <p:ext uri="{BB962C8B-B14F-4D97-AF65-F5344CB8AC3E}">
        <p14:creationId xmlns:p14="http://schemas.microsoft.com/office/powerpoint/2010/main" val="162775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156F8-AE70-459C-A175-B217118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1A5DF-6923-48A8-BEA9-18DC5FD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FCD3C-D7D7-49E9-85C0-5190FC6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3897-F665-4C0E-BE90-0503B60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三分钟现场 Demo：从回放走到一条可审计记录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BE57-965F-4B35-97DF-EB89A72B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不切功能清单，只走完一次完整研判。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42EC4-09FF-439A-85C9-03B2D420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93D3-DEB8-4CBF-A639-570AB3F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ADA5E-18D6-4D1F-A3A2-36C1C81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BCD17-1AF3-4103-8665-1EF77A1C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选 F01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5C99F-4212-43DD-930B-E01CC1B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F5000-4E1A-4647-BF22-D700F26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4E49-35E5-4ACD-BCB1-673675E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9D531-55BD-44FF-AC21-F7380614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开始回放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B0A99-5110-4E07-B3D4-EBBE2F5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D2D87-2D8A-4B5F-A631-8A3D66E1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724CF-2A7A-4598-AFD4-BDFB140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3930F-1F15-442C-A231-75BDE77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看见偏移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A5B42-F55A-48E3-89B7-0748EA1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5ED27-FD83-4F99-8FFC-158356F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CDE94-D489-4FD5-A965-D259020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DF280-5E19-4F05-87B7-F934ED3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打开研判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63345-B60D-4630-982D-6D81F09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2E905-1448-45C9-9FAD-16F6460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75E24-0A28-4E7F-8863-5E8FE34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57F28-106D-4BF8-B1D1-CBAAF23A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5E72A-3BCE-4A10-8A2A-812984A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B76EF-5AB7-4ACA-B7A1-1ECAE36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99B69-4A88-4B73-AE9D-1C1AFAF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审计记录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F7302-2182-4E20-8486-F814951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6953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b4f90bc049ff"/>
          <a:srcRect xmlns:a="http://schemas.openxmlformats.org/drawingml/2006/main" l="0" t="22422" r="0" b="22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3429000"/>
            <a:ext cx="6686550" cy="2305050"/>
          </a:xfrm>
          <a:prstGeom xmlns:a="http://schemas.openxmlformats.org/drawingml/2006/main" prst="roundRect">
            <a:avLst>
              <a:gd name="adj" fmla="val 4959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04CE-E38F-433A-84CC-2527F68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现场兜底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CFB63-319C-4F8C-9C38-9D45A31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网络不可达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29CAD-52CD-43E4-B69D-33289E5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明确进入演示回退，不伪装成功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B79A8-5FED-4A53-9129-B63D1F54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LLM 不可用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4D799D-35B2-4839-B21C-705AE6F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确定性建议模板仍可跑完整链路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F931F-B8F7-4412-B45F-7F6D61F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Demo：huagong.finlaw.cloud/demo</a:t>
            </a:r>
          </a:p>
        </p:txBody>
      </p:sp>
    </p:spTree>
    <p:extLst>
      <p:ext uri="{BB962C8B-B14F-4D97-AF65-F5344CB8AC3E}">
        <p14:creationId xmlns:p14="http://schemas.microsoft.com/office/powerpoint/2010/main" val="861588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7CB79-10E8-481E-8D91-17B756E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04E0-E8B0-45AD-B00B-9742D24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841B-4719-4DF5-AAA7-1622547F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6D699-D04A-4A60-9099-49A384E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落地从一套装置的 4–8 周只读影子模式开始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10D91-6D44-451F-B3F9-B573760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先证明判断质量，再讨论任何控制写回。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18460-9556-4A3B-8FDC-64BC960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4–8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3693-48D1-473F-99F8-984A9E9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只读影子模式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F79-2540-4858-93E8-0D0B920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一套装置 · 一条历史数据链路 · 一个班组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72B21-E13C-4039-9FA4-C908FA4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10287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F7F2D-AEFC-4B1B-A0A8-065710C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PoC 期间不做自动写回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5C784-3216-49B8-9CA7-F08E808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只评估提前量、误报、漏报和处置时间。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DA296-F735-4857-ABD2-2176EF9F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F505-F16C-4C05-87E5-92D215D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CD80A-6004-4CAC-9392-D566244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数据对齐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BC5DF-1F1E-46E8-B7FB-2953993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031F7-324A-4E7C-B68E-D3FAE81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变量字典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采样时间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数据质量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C4206-7B74-47EC-A678-96A76F0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6FBC-0234-49BB-9C2F-AED3DD9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6CD22-14D5-4CFB-B17F-30B0CA6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建立基线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B6027-19AB-46BB-8971-B2A6F29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7A7DB-4148-47DF-823A-E5359F2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历史正常工况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工况分层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阈值版本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85774-9EF5-4CD2-98FF-9E3A6EF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43E01-8394-49CD-8170-903E509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129A4-F717-45AB-9C3D-1482928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专家校验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8B272-F122-4B2D-9EEC-B0D6714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DB190-21E4-47F6-9BBC-27307F3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故障标签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51E40-0954-4B2D-86BF-8CAB3DA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A1DE0-38FD-4044-AAE9-41EB4B0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C0233-F7BB-4704-90A8-A35989F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影子运行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CEC007-5A80-445A-B399-D5AED76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5CDA7-DDFB-4585-BB89-CD5BA78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持续监测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22BCD-3DFB-4DB2-93C9-F19C285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A8141-E382-45D1-8852-9BB9EA7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验收决策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B6F79-5274-4A7F-A8CA-FE75CB0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F1352-0CD3-4DA8-982C-CD7D865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指标复盘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边界评审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下一阶段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40757-3555-467B-84C0-88AC1D0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911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交付基座：数据 manifest · 模型版本 · API 契约 · 前后端 · 容器部署 · 备份与回滚</a:t>
            </a:r>
          </a:p>
        </p:txBody>
      </p:sp>
    </p:spTree>
    <p:extLst>
      <p:ext uri="{BB962C8B-B14F-4D97-AF65-F5344CB8AC3E}">
        <p14:creationId xmlns:p14="http://schemas.microsoft.com/office/powerpoint/2010/main" val="1440612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7c65d6f7d4a30"/>
          <a:stretch xmlns:a="http://schemas.openxmlformats.org/drawingml/2006/main"/>
        </p:blipFill>
        <p:spPr>
          <a:xfrm xmlns:a="http://schemas.openxmlformats.org/drawingml/2006/main">
            <a:off x="8707631" y="685800"/>
            <a:ext cx="2330062" cy="2076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6878D-15E5-436A-9470-0CCCA25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A5BF-156D-4D7A-A3A9-A2C512E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953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用一个班组，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把判断时间变成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可验证的工程指标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C7B5-3658-4083-9A1D-D21300F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选择一套装置 · 接一条历史数据链路 · 定义一组 PoC 验收口径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8460B-307C-4B43-A55C-86CC67A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219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B59C-685C-44FF-A979-57C65CA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序安的承诺：先把证据和责任链做扎实，再谈自动控制。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754DE-89B7-414A-A11D-09E9047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1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rPr>
              <a:t>Process Sentinel · 序安·过程哨兵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69D4-206E-4D1D-B6D7-7304DBC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76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REVIEW · 2026.08</a:t>
            </a:r>
          </a:p>
        </p:txBody>
      </p:sp>
    </p:spTree>
    <p:extLst>
      <p:ext uri="{BB962C8B-B14F-4D97-AF65-F5344CB8AC3E}">
        <p14:creationId xmlns:p14="http://schemas.microsoft.com/office/powerpoint/2010/main" val="344749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2026-08-28T14:46:52.7530000Z</dcterms:created>
  <dcterms:modified xsi:type="dcterms:W3CDTF">2026-08-28T14:46:52.7530000Z</dcterms:modified>
</coreProperties>
</file>